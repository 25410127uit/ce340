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74" r:id="rId12"/>
    <p:sldId id="273" r:id="rId13"/>
    <p:sldId id="265" r:id="rId14"/>
    <p:sldId id="266" r:id="rId15"/>
    <p:sldId id="278" r:id="rId16"/>
    <p:sldId id="268" r:id="rId17"/>
    <p:sldId id="271" r:id="rId18"/>
    <p:sldId id="269" r:id="rId19"/>
    <p:sldId id="267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EA-4A0F-BB39-99A5D2D11F0C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EA-4A0F-BB39-99A5D2D11F0C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EA-4A0F-BB39-99A5D2D11F0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Known faces</c:v>
                </c:pt>
                <c:pt idx="1">
                  <c:v>False Positive</c:v>
                </c:pt>
                <c:pt idx="2">
                  <c:v>Unknown reject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90.62</c:v>
                </c:pt>
                <c:pt idx="1">
                  <c:v>0</c:v>
                </c:pt>
                <c:pt idx="2">
                  <c:v>9.3800000000000008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EA-4A0F-BB39-99A5D2D11F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04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Điểm Danh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Khuôn Mặt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Wokwi  ·  MQTT  ·  Python / OpenCV LBPH  ·  SQLite  ·  paho-mqtt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Wokwi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310896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3108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LBPH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310896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ThS. Phan Đình Duy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SVTH: Bùi Tấn Thiện Tâm · Lê Ngọc Thái · Kiêm Hoàng Tuấn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Giải pháp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tự động hóa điểm danh?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MQTT · OpenCV LBPH · SQLite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kỹ thuật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Algorithm · Database ·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0972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Accuracy 90,62% · 160 tests · Benchmark</a:t>
            </a:r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423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77840" y="2423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Giao diện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77840" y="3749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mở rộng &amp; Q&amp;A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Giải pháp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Điểm danh thủ công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tên mất 5–10 phút/lớp, lãng phí giờ học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219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điểm danh thay bạn (gian lận)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84378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điểm danh dễ thất lạc, khó thống kê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4655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tốn công nhập liệu thủ công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0873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cảnh báo khi sinh viên vắng nhiều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468880"/>
            <a:ext cx="402336" cy="228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Điểm danh tự động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khuôn mặt &lt;0.8s, không cần gọi tên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2219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gian lận: LBPH nhận diện khuôn mặt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84378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SQLite tự động, truy vấn theo ngày/lớp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4655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xem lịch sử điểm danh, lọc tên/ngày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40873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5 giây chống trigger liên tiếp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1168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2011680" cy="2194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OV2640 camera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MQTT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057400"/>
            <a:ext cx="18288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0" y="960120"/>
            <a:ext cx="2011680" cy="50292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463040"/>
            <a:ext cx="2011680" cy="2194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diemdanh/camera/trigger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Level 1 · TLS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8883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pattern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2057400"/>
            <a:ext cx="18288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0" y="960120"/>
            <a:ext cx="20116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xử lý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1463040"/>
            <a:ext cx="2011680" cy="2194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detect face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LBPH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CSDL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5s chống lặp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2057400"/>
            <a:ext cx="18288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92240" y="960120"/>
            <a:ext cx="2011680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1463040"/>
            <a:ext cx="2011680" cy="2194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attendance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ngày/tên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CSV/Excel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bảng: records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" y="39319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emulate chip ESP32 thật — firmware C++ Arduino 100% tương thích. Triển khai phần cứng thật: chỉ thay IP endpoint MQTT + Wi-Fi SSID, không sửa code Python/SQLite.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công nghệ sử dụng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0624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 (Mô phỏng)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42062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Wokwi ESP32 — wokwi.com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OV2640 ảo — Camera module giả lập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67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PIR sensor — Phát hiện chuyển động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532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OLED 128x64 — Hiển thị kết quả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MQTT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paho-mqtt — Python MQTT client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01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HiveMQ Cloud — Free MQTT broker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167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 design — publish/subscribe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532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QoS 1 + TLS — Đảm bảo tin cậy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017520"/>
            <a:ext cx="420624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Xử lý ảnh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42062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493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 4.x — Detect + preprocess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8587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LBPH Recognizer — cv2.face module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224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Haar Cascade — Face detect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590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&lt; 80 — Ngưỡng tùy chỉnh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206240" cy="4114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CSDL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429000"/>
            <a:ext cx="420624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3493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3.10+ — Main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8587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— Local CSDL (1 bảng records)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4224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json/encodings — Label map JSON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590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Threading — Async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AT&amp;T </a:t>
            </a:r>
            <a:r>
              <a:rPr lang="en-US" sz="2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Kaggle  ·  kaggle.com/datasets/kasikrit/att-database-of-faces  ·  License: CC0 Public Domain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người: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188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người (s1 → s40)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411480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/ người: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15544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ảnh (1.pgm → 10.pgm)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20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ảnh: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9164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ảnh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11480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22860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× 112 px, grayscale PGM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91640" y="26517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sáng, góc, biểu cảm khác nhau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411480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017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30175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PGM — đọc được bởi cv2.imread()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4114800" cy="32918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4930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AT&amp;T Faces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4114800" cy="265176"/>
          </a:xfrm>
          <a:prstGeom prst="rect">
            <a:avLst/>
          </a:prstGeom>
          <a:solidFill>
            <a:srgbClr val="F0FDF4"/>
          </a:solidFill>
          <a:ln w="381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82219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Miễn phí CC0 — không vấn đề bản quyền khi báo cáo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105656"/>
            <a:ext cx="41148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4105656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Benchmark chuẩn cho LBPH — dễ so sánh với nghiên cứu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389120"/>
            <a:ext cx="4114800" cy="265176"/>
          </a:xfrm>
          <a:prstGeom prst="rect">
            <a:avLst/>
          </a:prstGeom>
          <a:solidFill>
            <a:srgbClr val="F0FDF4"/>
          </a:solidFill>
          <a:ln w="381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4389120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Đa dạng ánh sáng, góc, biểu cảm, kính — test thực tế hơn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672584"/>
            <a:ext cx="4114800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4672584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Cấu trúc s1/…/s40 khớp 100% DATASET_DIR trong code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841248"/>
            <a:ext cx="429768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84124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thư mục &amp; cách dùng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1188720"/>
            <a:ext cx="429768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17720" y="1225296"/>
            <a:ext cx="42062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           ← DATASET_DIR trong 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s1/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1.pgm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2.pgm  ...  10.pgm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s2/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s40/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10.pgm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743200"/>
            <a:ext cx="4297680" cy="301752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0" y="2743200"/>
            <a:ext cx="4297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với build_encodings() — ai_subscriber.py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044952"/>
            <a:ext cx="42976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3081528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person_name in sorted(os.listdir(DATASET_DIR)):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person_dir = os.path.join(DATASET_DIR, person_name)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img_file in os.listdir(person_dir):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 = cv2.imread(img_path, cv2.IMREAD_GRAYSCALE)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PGM đọc được trực tiếp bởi OpenCV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face_img = cv2.resize(img, (100, 100))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images.append(face_img)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572000" y="4480560"/>
            <a:ext cx="4297680" cy="3017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0" y="4480560"/>
            <a:ext cx="4297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tải về &amp; dùng ngay (Kaggle CLI)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4782312"/>
            <a:ext cx="429768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17720" y="48006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kaggle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 datasets download kasikrit/att-database-of-faces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att-database-of-faces.zip -d dataset/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Tạo dataset/s1/ ... dataset/s40/ — chạy code ngay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Database SQLite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kết quả điểm danh — attendance.db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records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AUTOINCREMENT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người được nhận diện  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format: 2025-01-15T08:30:00.123456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confidence/100  (0.0 – 1.0)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520440"/>
            <a:ext cx="4114800" cy="1417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356616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records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 AUTOINCREMENT,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TEXT NOT NULL,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 TEXT NOT NULL,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confident REAL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&amp; Truy vấn dữ liệu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463040"/>
            <a:ext cx="42976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17720" y="1508760"/>
            <a:ext cx="4206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Ghi điểm danh (ai_subscriber.py)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conn.execute(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records\n     (name, timestamp, confident)\n     VALUES (?, ?, ?)",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(name, datetime.now().isoformat(),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round(confidence, 4))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conn.commit()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3246120"/>
            <a:ext cx="42976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17720" y="3291840"/>
            <a:ext cx="4206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Truy vấn hôm nay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timestamp, confident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records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date(timestamp) = date('now')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timestamp DESC;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MQTT Topics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pub/sub giữa ESP32-Wokwi ↔ Python AI ↔ Relay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01168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(Python)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05156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diemdanh/camera/trigger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publish khi PIR phát hiện chuyển động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417320"/>
            <a:ext cx="3291840" cy="3840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32120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PERSON_DETECTED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91440" cy="118872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2011680" cy="347472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(Python)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37744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diemdanh/ketqua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publish kết quả nhận diện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743200"/>
            <a:ext cx="3291840" cy="3840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32120" y="2743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PRESENT:TenNguoi | UNKNOWN | NO_FACE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91440" cy="1188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201168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(Python)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370332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diemdanh/relay/control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điều khiển relay mở/đóng cửa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4069080"/>
            <a:ext cx="3291840" cy="3840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32120" y="4069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OPEN_DOOR | CLOSE_DOOR | DENY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 HiveMQ Cloud  ·  Port 8883  ·  TLS/SSL  ·  QoS 1  ·  User: tam01  ·  Cooldown 5s chống trigger liên tiếp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hoạt động thời gian thực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960120"/>
            <a:ext cx="1600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960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Wokwi phát trigger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417320"/>
            <a:ext cx="1600200" cy="2286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481328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PIR sensor ảo → publish MQTT</a:t>
            </a:r>
          </a:p>
          <a:p>
            <a:r>
              <a:t>lên topic diemdanh/camera/trigger</a:t>
            </a:r>
          </a:p>
          <a:p>
            <a:r>
              <a:t>cooldown 5 giây</a:t>
            </a:r>
          </a:p>
        </p:txBody>
      </p:sp>
      <p:sp>
        <p:nvSpPr>
          <p:cNvPr id="8" name="Shape 6"/>
          <p:cNvSpPr/>
          <p:nvPr/>
        </p:nvSpPr>
        <p:spPr>
          <a:xfrm>
            <a:off x="137160" y="3154680"/>
            <a:ext cx="1600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" y="315468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"PERSON_DETECTED"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2057400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960120"/>
            <a:ext cx="1600200" cy="45720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960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MQTT → Python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1417320"/>
            <a:ext cx="1600200" cy="2286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65960" y="1481328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 client nhận message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on_message() callback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20240" y="3154680"/>
            <a:ext cx="1600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47672" y="315468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on_message() callback, QoS=1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0440" y="2057400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03320" y="960120"/>
            <a:ext cx="160020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3320" y="960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Lấy ảnh từ Dataset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1417320"/>
            <a:ext cx="1600200" cy="2286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1481328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phỏng: lấy ngẫu nhiên 1 ảnh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dataset/ → Haar Cascade detect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resize 100×100 → LBPH predict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03320" y="3154680"/>
            <a:ext cx="1600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30752" y="315468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80 = nhận ra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2057400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960120"/>
            <a:ext cx="1600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960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Ghi CSDL SQLite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417320"/>
            <a:ext cx="1600200" cy="2286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32120" y="1481328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INSERT vào bảng records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timestamp, confident)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5s ở tầng MQTT listener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3154680"/>
            <a:ext cx="1600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315468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bảng: records (không có students)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057400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69480" y="960120"/>
            <a:ext cx="1600200" cy="45720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69480" y="960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Relay Control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69480" y="1417320"/>
            <a:ext cx="1600200" cy="228600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1481328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→ OPEN_DOOR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đợi 5 giây → CLOSE_DOOR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→ DENY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69480" y="3154680"/>
            <a:ext cx="16002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96912" y="315468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diemdanh/relay/control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ESP32-CAM &amp; Wokwi Simulator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phần cứng nhúng không cần thiết bị vật lý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— Thông số kỹ thuật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xử lý: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Xtensa LX6 dual-core 240MHz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11480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 SRAM + 4MB PSRAM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11480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OV2640 — 2MP, JPEG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802.11b/g/n — 2.4GHz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411480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pins (PIR, OLED, Relay)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Simulator — Ưu điểm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137160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Miễn phí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mua phần cứng ~350k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874520"/>
            <a:ext cx="429768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 toàn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1874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rủi ro hỏng ngày bảo vệ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37744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Tương thích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C++ Arduino 100% giống thật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2880360"/>
            <a:ext cx="429768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Debug dễ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monitor, LED, OLED trực quan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38328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Chia sẻ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public — demo online mọi lúc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886200"/>
            <a:ext cx="429768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Chuyển đổi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3886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đổi 2 dòng khi dùng phần cứng thật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kết nối phần </a:t>
            </a:r>
            <a:r>
              <a:rPr lang="en-US" sz="2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cứng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trong </a:t>
            </a: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20624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86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chân GPIO ESP32-CAM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52728"/>
          <a:ext cx="4206240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Thiết bị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Chiều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 HC-SR501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chuyển động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5V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khiển mở/đóng cửa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Xanh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nhận diện thành công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Đỏ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khuôn mặt lạ / DENY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21 (SDA)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128×64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Hiển thị tên + trạng thái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22 (SCL)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128×64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I2C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Đèn flash camera OV2640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86968"/>
            <a:ext cx="420624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886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kết nối Wokwi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417320"/>
            <a:ext cx="1645920" cy="2926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822960" cy="594360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14630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HC-SR501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1700784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41264" y="1490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822960" cy="594360"/>
          </a:xfrm>
          <a:prstGeom prst="rect">
            <a:avLst/>
          </a:prstGeom>
          <a:solidFill>
            <a:srgbClr val="1E6FB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22860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2551176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41264" y="23134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G12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63440" y="3090672"/>
            <a:ext cx="822960" cy="594360"/>
          </a:xfrm>
          <a:prstGeom prst="rect">
            <a:avLst/>
          </a:prstGeom>
          <a:solidFill>
            <a:srgbClr val="16A34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63440" y="30906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Xanh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0" y="3346704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41264" y="3108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G14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663440" y="3886200"/>
            <a:ext cx="822960" cy="594360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63440" y="38862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Đỏ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0" y="4151376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541264" y="39044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G15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498080" y="1463040"/>
            <a:ext cx="914400" cy="59436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498080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128×64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315200" y="1728216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095744" y="14904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498080" y="2286000"/>
            <a:ext cx="91440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498080" y="2286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OV2640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15200" y="2551176"/>
            <a:ext cx="18288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095744" y="23134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669280" y="4114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/ GND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Wokwi giả lập toàn bộ GPIO bằng phần mềm — firmware C++ Arduino dùng chân số thật, khi lắp board vật lý chỉ cần nối đúng GPIO này.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ESP32 — C++ Arduino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trong Wokwi Simulator </a:t>
            </a: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Firmware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347472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86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chương trình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44168"/>
            <a:ext cx="347472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73152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80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5506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Wi-Fi → MQTT broker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init → LED init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1560" y="2002536"/>
            <a:ext cx="73152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347472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73152" cy="658368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939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3682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/>
              <a:t>Đọc PIR liên tục</a:t>
            </a:r>
          </a:p>
          <a:p>
            <a:r>
              <a:rPr sz="1000"/>
              <a:t>HIGH + hết cooldown 5s</a:t>
            </a:r>
          </a:p>
          <a:p>
            <a:r>
              <a:rPr sz="1000"/>
              <a:t>→ publish MQTT</a:t>
            </a:r>
          </a:p>
        </p:txBody>
      </p:sp>
      <p:sp>
        <p:nvSpPr>
          <p:cNvPr id="16" name="Shape 14"/>
          <p:cNvSpPr/>
          <p:nvPr/>
        </p:nvSpPr>
        <p:spPr>
          <a:xfrm>
            <a:off x="1051560" y="2715768"/>
            <a:ext cx="73152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347472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73152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0815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"diemdanh/camera/trigger"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"PERSON_DETECTED"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" y="3429000"/>
            <a:ext cx="73152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347472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483864"/>
            <a:ext cx="73152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520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diemdanh/relay/control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OPEN_DOOR → mở relay 5s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→ nhấp LED đỏ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" y="4142232"/>
            <a:ext cx="73152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197096"/>
            <a:ext cx="3474720" cy="65836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197096"/>
            <a:ext cx="73152" cy="6583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233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 display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5079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thị: tên nhận diện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"UNKNOWN" / "Waiting..."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886968"/>
            <a:ext cx="49377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31920" y="886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mẫu — Wokwi ESP32 (C++ Arduino)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31920" y="1344168"/>
            <a:ext cx="4937760" cy="1920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77640" y="1389888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600"/>
              <a:t>#include &lt;WiFi.h&gt;</a:t>
            </a:r>
          </a:p>
          <a:p>
            <a:r>
              <a:rPr sz="600"/>
              <a:t>#include &lt;WiFiClientSecure.h&gt;</a:t>
            </a:r>
          </a:p>
          <a:p>
            <a:r>
              <a:rPr sz="600"/>
              <a:t>#include &lt;PubSubClient.h&gt;</a:t>
            </a:r>
          </a:p>
          <a:p>
            <a:r>
              <a:rPr sz="600"/>
              <a:t>#include &lt;Wire.h&gt;</a:t>
            </a:r>
          </a:p>
          <a:p>
            <a:r>
              <a:rPr sz="600"/>
              <a:t>#include &lt;Adafruit_SSD1306.h&gt;</a:t>
            </a:r>
          </a:p>
          <a:p/>
          <a:p>
            <a:r>
              <a:rPr sz="600"/>
              <a:t>#define PIR_PIN 13</a:t>
            </a:r>
          </a:p>
          <a:p>
            <a:r>
              <a:rPr sz="600"/>
              <a:t>#define RELAY_PIN 12</a:t>
            </a:r>
          </a:p>
          <a:p>
            <a:r>
              <a:rPr sz="600"/>
              <a:t>#define LED_G 14</a:t>
            </a:r>
          </a:p>
          <a:p>
            <a:r>
              <a:rPr sz="600"/>
              <a:t>#define LED_R 15</a:t>
            </a:r>
          </a:p>
          <a:p>
            <a:r>
              <a:rPr sz="600"/>
              <a:t>#define OLED_SDA 21</a:t>
            </a:r>
          </a:p>
          <a:p>
            <a:r>
              <a:rPr sz="600"/>
              <a:t>#define OLED_SCL 22</a:t>
            </a:r>
          </a:p>
          <a:p/>
          <a:p>
            <a:r>
              <a:rPr sz="600"/>
              <a:t>const char* MQTT_BROKER =</a:t>
            </a:r>
          </a:p>
          <a:p>
            <a:r>
              <a:rPr sz="600"/>
              <a:t>"44664d8119b54fadaf9870a37274af6b.s1.eu.hivemq.cloud";</a:t>
            </a:r>
          </a:p>
          <a:p>
            <a:r>
              <a:rPr sz="600"/>
              <a:t>const int MQTT_PORT = 8883;</a:t>
            </a:r>
          </a:p>
          <a:p>
            <a:r>
              <a:rPr sz="600"/>
              <a:t>const char* MQTT_USER = "YOUR_MQTT_USER";</a:t>
            </a:r>
          </a:p>
          <a:p>
            <a:r>
              <a:rPr sz="600"/>
              <a:t>const char* MQTT_PASS = "YOUR_MQTT_PASSWORD";</a:t>
            </a:r>
          </a:p>
          <a:p/>
          <a:p>
            <a:r>
              <a:rPr sz="600"/>
              <a:t>const char* TOPIC_TRIGGER = "diemdanh/camera/trigger";</a:t>
            </a:r>
          </a:p>
          <a:p>
            <a:r>
              <a:rPr sz="600"/>
              <a:t>const char* TOPIC_RELAY   = "diemdanh/relay/control";</a:t>
            </a:r>
          </a:p>
          <a:p>
            <a:r>
              <a:rPr sz="600"/>
              <a:t>const char* TOPIC_RESULT  = "diemdanh/ketqua";</a:t>
            </a:r>
          </a:p>
          <a:p/>
          <a:p>
            <a:r>
              <a:rPr sz="600"/>
              <a:t>WiFiClientSecure espClient;</a:t>
            </a:r>
          </a:p>
          <a:p>
            <a:r>
              <a:rPr sz="600"/>
              <a:t>PubSubClient mqtt(espClient);</a:t>
            </a:r>
          </a:p>
        </p:txBody>
      </p:sp>
      <p:sp>
        <p:nvSpPr>
          <p:cNvPr id="35" name="Shape 33"/>
          <p:cNvSpPr/>
          <p:nvPr/>
        </p:nvSpPr>
        <p:spPr>
          <a:xfrm>
            <a:off x="3931920" y="3355848"/>
            <a:ext cx="493776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77640" y="3401568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600"/>
              <a:t>void setup() {</a:t>
            </a:r>
          </a:p>
          <a:p>
            <a:r>
              <a:rPr sz="600"/>
              <a:t>  pinMode(PIR_PIN, INPUT);</a:t>
            </a:r>
          </a:p>
          <a:p>
            <a:r>
              <a:rPr sz="600"/>
              <a:t>  pinMode(RELAY_PIN, OUTPUT);</a:t>
            </a:r>
          </a:p>
          <a:p>
            <a:r>
              <a:rPr sz="600"/>
              <a:t>  pinMode(LED_G, OUTPUT);</a:t>
            </a:r>
          </a:p>
          <a:p>
            <a:r>
              <a:rPr sz="600"/>
              <a:t>  pinMode(LED_R, OUTPUT);</a:t>
            </a:r>
          </a:p>
          <a:p/>
          <a:p>
            <a:r>
              <a:rPr sz="600"/>
              <a:t>  WiFi.begin(SSID, PASS);</a:t>
            </a:r>
          </a:p>
          <a:p>
            <a:r>
              <a:rPr sz="600"/>
              <a:t>  espClient.setInsecure();</a:t>
            </a:r>
          </a:p>
          <a:p>
            <a:r>
              <a:rPr sz="600"/>
              <a:t>  mqtt.setServer(MQTT_BROKER, MQTT_PORT);</a:t>
            </a:r>
          </a:p>
          <a:p>
            <a:r>
              <a:rPr sz="600"/>
              <a:t>  mqtt.setCallback(on_message);</a:t>
            </a:r>
          </a:p>
          <a:p>
            <a:r>
              <a:rPr sz="600"/>
              <a:t>  mqtt.connect("ESP32_AIOT", MQTT_USER, MQTT_PASS);</a:t>
            </a:r>
          </a:p>
          <a:p>
            <a:r>
              <a:rPr sz="600"/>
              <a:t>  mqtt.subscribe(TOPIC_RELAY);</a:t>
            </a:r>
          </a:p>
          <a:p>
            <a:r>
              <a:rPr sz="600"/>
              <a:t>  mqtt.subscribe(TOPIC_RESULT);</a:t>
            </a:r>
          </a:p>
          <a:p>
            <a:r>
              <a:rPr sz="600"/>
              <a:t>}</a:t>
            </a:r>
          </a:p>
          <a:p/>
          <a:p>
            <a:r>
              <a:rPr sz="600"/>
              <a:t>void loop() {</a:t>
            </a:r>
          </a:p>
          <a:p>
            <a:r>
              <a:rPr sz="600"/>
              <a:t>  static unsigned long lastPublish = 0;</a:t>
            </a:r>
          </a:p>
          <a:p>
            <a:r>
              <a:rPr sz="600"/>
              <a:t>  mqtt.loop();</a:t>
            </a:r>
          </a:p>
          <a:p>
            <a:r>
              <a:rPr sz="600"/>
              <a:t>  if (digitalRead(PIR_PIN) == HIGH &amp;&amp; millis()-lastPublish &gt; 5000) {</a:t>
            </a:r>
          </a:p>
          <a:p>
            <a:r>
              <a:rPr sz="600"/>
              <a:t>    mqtt.publish(TOPIC_TRIGGER, "PERSON_DETECTED");</a:t>
            </a:r>
          </a:p>
          <a:p>
            <a:r>
              <a:rPr sz="600"/>
              <a:t>    lastPublish = millis();</a:t>
            </a:r>
          </a:p>
          <a:p>
            <a:r>
              <a:rPr sz="600"/>
              <a:t>  }</a:t>
            </a:r>
          </a:p>
          <a:p>
            <a:r>
              <a:rPr sz="600"/>
              <a:t>}</a:t>
            </a:r>
          </a:p>
          <a:p/>
          <a:p>
            <a:r>
              <a:rPr sz="600"/>
              <a:t>void on_message(char* topic, byte* msg, unsigned int len) {</a:t>
            </a:r>
          </a:p>
          <a:p>
            <a:r>
              <a:rPr sz="600"/>
              <a:t>  String payload;</a:t>
            </a:r>
          </a:p>
          <a:p>
            <a:r>
              <a:rPr sz="600"/>
              <a:t>  for (int i=0; i&lt;len; i++) payload += (char)msg[i];</a:t>
            </a:r>
          </a:p>
          <a:p>
            <a:r>
              <a:rPr sz="600"/>
              <a:t>  if (payload == "OPEN_DOOR") digitalWrite(RELAY_PIN, HIGH);</a:t>
            </a:r>
          </a:p>
          <a:p>
            <a:r>
              <a:rPr sz="600"/>
              <a:t>  else if (payload == "CLOSE_DOOR") digitalWrite(RELAY_PIN, LOW);</a:t>
            </a:r>
          </a:p>
          <a:p>
            <a:r>
              <a:rPr sz="600"/>
              <a:t>  else if (payload == "DENY") { digitalWrite(LED_R, HIGH); delay(500); digitalWrite(LED_R, LOW); }</a:t>
            </a:r>
          </a:p>
          <a:p>
            <a:r>
              <a:rPr sz="600"/>
              <a:t>}</a:t>
            </a:r>
          </a:p>
        </p:txBody>
      </p:sp>
      <p:sp>
        <p:nvSpPr>
          <p:cNvPr id="37" name="Text 35"/>
          <p:cNvSpPr/>
          <p:nvPr/>
        </p:nvSpPr>
        <p:spPr>
          <a:xfrm>
            <a:off x="274320" y="46268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LBPH Face Recognition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Binary Pattern Histogram — nhẹ, nhanh, không cần GPU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960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960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grayscale → Haar Cascade detect khuôn mặt → crop &amp; resize 100×100 px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57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1645920"/>
            <a:ext cx="822960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Transform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pixel so sánh 8 neighbours → tạo binary code → thành decimal (0–255)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57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23317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331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ảnh thành grid 8×8 cells → tính histogram 256-bin mỗi cell → concat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57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3017520"/>
            <a:ext cx="8229600" cy="5486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cv2.face.LBPHFaceRecognizer.train() → lưu lbph_model.yml + encodings.json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57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" y="37033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3703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recognizer.predict(face) → trả (label, confidence)  →  &lt; 80 = nhận 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48056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quan trọng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892040"/>
          <a:ext cx="4114800" cy="17068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Tham số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Giá trị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80 → nhận diện được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px (grayscale)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× 8 = 64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bins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per 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lbph_model.yml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4572000" y="4480560"/>
            <a:ext cx="4297680" cy="41148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72000" y="4480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face_recognition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4892040"/>
          <a:ext cx="4297680" cy="121920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LBPH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face_recognition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contrib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(HOG)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~0.3s/frame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~0.5s/frame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 (test)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thực nghiệm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0116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914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Accuracy</a:t>
            </a:r>
          </a:p>
          <a:p>
            <a:r>
              <a:t>(overall)</a:t>
            </a:r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2011680" cy="20116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201168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143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2011680" cy="20116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201168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43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&lt;0.8s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960120"/>
            <a:ext cx="2011680" cy="201168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960120"/>
            <a:ext cx="2011680" cy="9144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143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FPS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xử lý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i5)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thực nghiệm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Known: 40 người × 3 ảnh = 120 tests  ·  Unknown giả lập: 40 tests  ·  Train: 7 ảnh/người  ·  AT&amp;T Face Database  ·  CPU Intel i5, không GPU</a:t>
            </a:r>
          </a:p>
        </p:txBody>
      </p:sp>
      <p:graphicFrame>
        <p:nvGraphicFramePr>
          <p:cNvPr id="24" name="Chart 0"/>
          <p:cNvGraphicFramePr/>
          <p:nvPr/>
        </p:nvGraphicFramePr>
        <p:xfrm>
          <a:off x="914400" y="4023360"/>
          <a:ext cx="731520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3" name="Acc"/>
          <p:cNvSpPr/>
          <p:nvPr/>
        </p:nvSpPr>
        <p:spPr>
          <a:xfrm>
            <a:off x="0" y="502920"/>
            <a:ext cx="9144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4" name="T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FFFF"/>
                </a:solidFill>
                <a:latin typeface="Calibri" pitchFamily="34" charset="0"/>
              </a:rPr>
              <a:t>Kết Quả Thực Nghiệm — Số Liệu Thực Đo</a:t>
            </a:r>
          </a:p>
        </p:txBody>
      </p:sp>
      <p:sp>
        <p:nvSpPr>
          <p:cNvPr id="5" name="Sub"/>
          <p:cNvSpPr/>
          <p:nvPr/>
        </p:nvSpPr>
        <p:spPr>
          <a:xfrm>
            <a:off x="182880" y="5029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800"/>
              <a:t>160 ảnh: 120 known (40×3) + 40 unknown giả lập · Train 7 ảnh/người · AT&amp;T Face Database · CPU i5</a:t>
            </a:r>
          </a:p>
        </p:txBody>
      </p:sp>
      <p:sp>
        <p:nvSpPr>
          <p:cNvPr id="10" name="CMT"/>
          <p:cNvSpPr/>
          <p:nvPr/>
        </p:nvSpPr>
        <p:spPr>
          <a:xfrm>
            <a:off x="182880" y="640080"/>
            <a:ext cx="4115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200"/>
              <a:t>Confusion Matrix  (120 known + 40 unknown = 160 ảnh)</a:t>
            </a:r>
          </a:p>
        </p:txBody>
      </p:sp>
      <p:sp>
        <p:nvSpPr>
          <p:cNvPr id="20" name="CH0"/>
          <p:cNvSpPr/>
          <p:nvPr/>
        </p:nvSpPr>
        <p:spPr>
          <a:xfrm>
            <a:off x="731520" y="960120"/>
            <a:ext cx="997395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" name="CHT0"/>
          <p:cNvSpPr/>
          <p:nvPr/>
        </p:nvSpPr>
        <p:spPr>
          <a:xfrm>
            <a:off x="731520" y="9601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000" b="1" dirty="0">
                <a:solidFill>
                  <a:srgbClr val="FFFFFF"/>
                </a:solidFill>
                <a:latin typeface="Calibri" pitchFamily="34" charset="0"/>
              </a:rPr>
              <a:t>PRESENT</a:t>
            </a:r>
          </a:p>
          <a:p>
            <a:pPr marL="0" indent="0" algn="ctr">
              <a:buNone/>
            </a:pPr>
            <a:r>
              <a:rPr lang="vi-VN" sz="850" dirty="0">
                <a:solidFill>
                  <a:srgbClr val="FFFFFF"/>
                </a:solidFill>
                <a:latin typeface="Calibri" pitchFamily="34" charset="0"/>
              </a:rPr>
              <a:t>(Biết mặt)</a:t>
            </a:r>
          </a:p>
        </p:txBody>
      </p:sp>
      <p:sp>
        <p:nvSpPr>
          <p:cNvPr id="6" name="CH1"/>
          <p:cNvSpPr/>
          <p:nvPr/>
        </p:nvSpPr>
        <p:spPr>
          <a:xfrm>
            <a:off x="1738440" y="960120"/>
            <a:ext cx="9973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2" name="CHT1"/>
          <p:cNvSpPr/>
          <p:nvPr/>
        </p:nvSpPr>
        <p:spPr>
          <a:xfrm>
            <a:off x="1738440" y="9601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000" b="1" dirty="0">
                <a:solidFill>
                  <a:srgbClr val="FFFFFF"/>
                </a:solidFill>
                <a:latin typeface="Calibri" pitchFamily="34" charset="0"/>
              </a:rPr>
              <a:t>UNKNOWN</a:t>
            </a:r>
          </a:p>
          <a:p>
            <a:pPr marL="0" indent="0" algn="ctr">
              <a:buNone/>
            </a:pPr>
            <a:r>
              <a:rPr lang="vi-VN" sz="850" dirty="0">
                <a:solidFill>
                  <a:srgbClr val="FFFFFF"/>
                </a:solidFill>
                <a:latin typeface="Calibri" pitchFamily="34" charset="0"/>
              </a:rPr>
              <a:t>(Lạ mặt)</a:t>
            </a:r>
          </a:p>
        </p:txBody>
      </p:sp>
      <p:sp>
        <p:nvSpPr>
          <p:cNvPr id="7" name="CH2"/>
          <p:cNvSpPr/>
          <p:nvPr/>
        </p:nvSpPr>
        <p:spPr>
          <a:xfrm>
            <a:off x="2745360" y="960120"/>
            <a:ext cx="997395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3" name="CHT2"/>
          <p:cNvSpPr/>
          <p:nvPr/>
        </p:nvSpPr>
        <p:spPr>
          <a:xfrm>
            <a:off x="2745360" y="9601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000" b="1" dirty="0">
                <a:solidFill>
                  <a:srgbClr val="FFFFFF"/>
                </a:solidFill>
                <a:latin typeface="Calibri" pitchFamily="34" charset="0"/>
              </a:rPr>
              <a:t>NO_FACE</a:t>
            </a:r>
          </a:p>
          <a:p>
            <a:pPr marL="0" indent="0" algn="ctr">
              <a:buNone/>
            </a:pPr>
            <a:r>
              <a:rPr lang="vi-VN" sz="850" dirty="0">
                <a:solidFill>
                  <a:srgbClr val="FFFFFF"/>
                </a:solidFill>
                <a:latin typeface="Calibri" pitchFamily="34" charset="0"/>
              </a:rPr>
              <a:t>(Không thấy)</a:t>
            </a:r>
          </a:p>
        </p:txBody>
      </p:sp>
      <p:sp>
        <p:nvSpPr>
          <p:cNvPr id="19" name="Cor"/>
          <p:cNvSpPr/>
          <p:nvPr/>
        </p:nvSpPr>
        <p:spPr>
          <a:xfrm>
            <a:off x="182880" y="960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00" b="1" dirty="0">
                <a:solidFill>
                  <a:srgbClr val="64748B"/>
                </a:solidFill>
                <a:latin typeface="Calibri" pitchFamily="34" charset="0"/>
              </a:rPr>
              <a:t>Thực tế →</a:t>
            </a:r>
          </a:p>
          <a:p>
            <a:pPr marL="0" indent="0" algn="r">
              <a:buNone/>
            </a:pPr>
            <a:r>
              <a:rPr lang="vi-VN" sz="800" b="1" dirty="0">
                <a:solidFill>
                  <a:srgbClr val="64748B"/>
                </a:solidFill>
                <a:latin typeface="Calibri" pitchFamily="34" charset="0"/>
              </a:rPr>
              <a:t>Dự đoán ↓</a:t>
            </a:r>
          </a:p>
        </p:txBody>
      </p:sp>
      <p:sp>
        <p:nvSpPr>
          <p:cNvPr id="30" name="RH0"/>
          <p:cNvSpPr/>
          <p:nvPr/>
        </p:nvSpPr>
        <p:spPr>
          <a:xfrm>
            <a:off x="182880" y="1417320"/>
            <a:ext cx="539115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31" name="RHT0"/>
          <p:cNvSpPr/>
          <p:nvPr/>
        </p:nvSpPr>
        <p:spPr>
          <a:xfrm>
            <a:off x="182880" y="1417320"/>
            <a:ext cx="5391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950" b="1" dirty="0">
                <a:solidFill>
                  <a:srgbClr val="FFFFFF"/>
                </a:solidFill>
                <a:latin typeface="Calibri" pitchFamily="34" charset="0"/>
              </a:rPr>
              <a:t>PRESENT</a:t>
            </a:r>
          </a:p>
        </p:txBody>
      </p:sp>
      <p:sp>
        <p:nvSpPr>
          <p:cNvPr id="40" name="M00"/>
          <p:cNvSpPr/>
          <p:nvPr/>
        </p:nvSpPr>
        <p:spPr>
          <a:xfrm>
            <a:off x="731520" y="1417320"/>
            <a:ext cx="997395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1" name="MT00"/>
          <p:cNvSpPr/>
          <p:nvPr/>
        </p:nvSpPr>
        <p:spPr>
          <a:xfrm>
            <a:off x="731520" y="14173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166534"/>
                </a:solidFill>
                <a:latin typeface="Calibri" pitchFamily="34" charset="0"/>
              </a:rPr>
              <a:t>105</a:t>
            </a:r>
            <a:r>
              <a:rPr lang="vi-VN" sz="1600" b="1" dirty="0">
                <a:solidFill>
                  <a:srgbClr val="166534"/>
                </a:solidFill>
                <a:latin typeface="Calibri" pitchFamily="34" charset="0"/>
              </a:rPr>
              <a:t> ✓</a:t>
            </a:r>
          </a:p>
        </p:txBody>
      </p:sp>
      <p:sp>
        <p:nvSpPr>
          <p:cNvPr id="8" name="M01"/>
          <p:cNvSpPr/>
          <p:nvPr/>
        </p:nvSpPr>
        <p:spPr>
          <a:xfrm>
            <a:off x="1738440" y="1417320"/>
            <a:ext cx="997395" cy="457200"/>
          </a:xfrm>
          <a:prstGeom prst="rect">
            <a:avLst/>
          </a:prstGeom>
          <a:solidFill>
            <a:srgbClr val="FEE2E2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2" name="MT01"/>
          <p:cNvSpPr/>
          <p:nvPr/>
        </p:nvSpPr>
        <p:spPr>
          <a:xfrm>
            <a:off x="1738440" y="14173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/>
              <a:t>0 ✗</a:t>
            </a:r>
          </a:p>
        </p:txBody>
      </p:sp>
      <p:sp>
        <p:nvSpPr>
          <p:cNvPr id="9" name="M02"/>
          <p:cNvSpPr/>
          <p:nvPr/>
        </p:nvSpPr>
        <p:spPr>
          <a:xfrm>
            <a:off x="2745360" y="1417320"/>
            <a:ext cx="997395" cy="457200"/>
          </a:xfrm>
          <a:prstGeom prst="rect">
            <a:avLst/>
          </a:prstGeom>
          <a:solidFill>
            <a:srgbClr val="FEF9C3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3" name="MT02"/>
          <p:cNvSpPr/>
          <p:nvPr/>
        </p:nvSpPr>
        <p:spPr>
          <a:xfrm>
            <a:off x="2745360" y="14173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92400E"/>
                </a:solidFill>
                <a:latin typeface="Calibri" pitchFamily="34" charset="0"/>
              </a:rPr>
              <a:t>0</a:t>
            </a:r>
            <a:r>
              <a:rPr lang="vi-VN" sz="1600" b="1" dirty="0">
                <a:solidFill>
                  <a:srgbClr val="92400E"/>
                </a:solidFill>
                <a:latin typeface="Calibri" pitchFamily="34" charset="0"/>
              </a:rPr>
              <a:t> —</a:t>
            </a:r>
          </a:p>
        </p:txBody>
      </p:sp>
      <p:sp>
        <p:nvSpPr>
          <p:cNvPr id="11" name="RH1"/>
          <p:cNvSpPr/>
          <p:nvPr/>
        </p:nvSpPr>
        <p:spPr>
          <a:xfrm>
            <a:off x="182880" y="1874520"/>
            <a:ext cx="53911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32" name="RHT1"/>
          <p:cNvSpPr/>
          <p:nvPr/>
        </p:nvSpPr>
        <p:spPr>
          <a:xfrm>
            <a:off x="182880" y="1874520"/>
            <a:ext cx="5391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950" b="1" dirty="0">
                <a:solidFill>
                  <a:srgbClr val="FFFFFF"/>
                </a:solidFill>
                <a:latin typeface="Calibri" pitchFamily="34" charset="0"/>
              </a:rPr>
              <a:t>UNKNOWN</a:t>
            </a:r>
          </a:p>
        </p:txBody>
      </p:sp>
      <p:sp>
        <p:nvSpPr>
          <p:cNvPr id="12" name="M10"/>
          <p:cNvSpPr/>
          <p:nvPr/>
        </p:nvSpPr>
        <p:spPr>
          <a:xfrm>
            <a:off x="731520" y="1874520"/>
            <a:ext cx="997395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4" name="MT10"/>
          <p:cNvSpPr/>
          <p:nvPr/>
        </p:nvSpPr>
        <p:spPr>
          <a:xfrm>
            <a:off x="731520" y="18745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/>
              <a:t>15 ✗</a:t>
            </a:r>
          </a:p>
        </p:txBody>
      </p:sp>
      <p:sp>
        <p:nvSpPr>
          <p:cNvPr id="13" name="M11"/>
          <p:cNvSpPr/>
          <p:nvPr/>
        </p:nvSpPr>
        <p:spPr>
          <a:xfrm>
            <a:off x="1738440" y="1874520"/>
            <a:ext cx="997395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5" name="MT11"/>
          <p:cNvSpPr/>
          <p:nvPr/>
        </p:nvSpPr>
        <p:spPr>
          <a:xfrm>
            <a:off x="1738440" y="18745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/>
              <a:t>40 ✓</a:t>
            </a:r>
          </a:p>
        </p:txBody>
      </p:sp>
      <p:sp>
        <p:nvSpPr>
          <p:cNvPr id="14" name="M12"/>
          <p:cNvSpPr/>
          <p:nvPr/>
        </p:nvSpPr>
        <p:spPr>
          <a:xfrm>
            <a:off x="2745360" y="1874520"/>
            <a:ext cx="997395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6" name="MT12"/>
          <p:cNvSpPr/>
          <p:nvPr/>
        </p:nvSpPr>
        <p:spPr>
          <a:xfrm>
            <a:off x="2745360" y="18745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dirty="0">
                <a:solidFill>
                  <a:srgbClr val="94A3B8"/>
                </a:solidFill>
                <a:latin typeface="Calibri" pitchFamily="34" charset="0"/>
              </a:rPr>
              <a:t>—</a:t>
            </a:r>
          </a:p>
        </p:txBody>
      </p:sp>
      <p:sp>
        <p:nvSpPr>
          <p:cNvPr id="15" name="RH2"/>
          <p:cNvSpPr/>
          <p:nvPr/>
        </p:nvSpPr>
        <p:spPr>
          <a:xfrm>
            <a:off x="182880" y="2331720"/>
            <a:ext cx="539115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RHT2"/>
          <p:cNvSpPr/>
          <p:nvPr/>
        </p:nvSpPr>
        <p:spPr>
          <a:xfrm>
            <a:off x="182880" y="2331720"/>
            <a:ext cx="5391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950" b="1" dirty="0">
                <a:solidFill>
                  <a:srgbClr val="FFFFFF"/>
                </a:solidFill>
                <a:latin typeface="Calibri" pitchFamily="34" charset="0"/>
              </a:rPr>
              <a:t>NO_FACE</a:t>
            </a:r>
          </a:p>
        </p:txBody>
      </p:sp>
      <p:sp>
        <p:nvSpPr>
          <p:cNvPr id="16" name="M20"/>
          <p:cNvSpPr/>
          <p:nvPr/>
        </p:nvSpPr>
        <p:spPr>
          <a:xfrm>
            <a:off x="731520" y="2331720"/>
            <a:ext cx="997395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7" name="MT20"/>
          <p:cNvSpPr/>
          <p:nvPr/>
        </p:nvSpPr>
        <p:spPr>
          <a:xfrm>
            <a:off x="731520" y="23317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dirty="0">
                <a:solidFill>
                  <a:srgbClr val="94A3B8"/>
                </a:solidFill>
                <a:latin typeface="Calibri" pitchFamily="34" charset="0"/>
              </a:rPr>
              <a:t>—</a:t>
            </a:r>
          </a:p>
        </p:txBody>
      </p:sp>
      <p:sp>
        <p:nvSpPr>
          <p:cNvPr id="17" name="M21"/>
          <p:cNvSpPr/>
          <p:nvPr/>
        </p:nvSpPr>
        <p:spPr>
          <a:xfrm>
            <a:off x="1738440" y="2331720"/>
            <a:ext cx="997395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8" name="MT21"/>
          <p:cNvSpPr/>
          <p:nvPr/>
        </p:nvSpPr>
        <p:spPr>
          <a:xfrm>
            <a:off x="1738440" y="23317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dirty="0">
                <a:solidFill>
                  <a:srgbClr val="94A3B8"/>
                </a:solidFill>
                <a:latin typeface="Calibri" pitchFamily="34" charset="0"/>
              </a:rPr>
              <a:t>—</a:t>
            </a:r>
          </a:p>
        </p:txBody>
      </p:sp>
      <p:sp>
        <p:nvSpPr>
          <p:cNvPr id="18" name="M22"/>
          <p:cNvSpPr/>
          <p:nvPr/>
        </p:nvSpPr>
        <p:spPr>
          <a:xfrm>
            <a:off x="2745360" y="2331720"/>
            <a:ext cx="997395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49" name="MT22"/>
          <p:cNvSpPr/>
          <p:nvPr/>
        </p:nvSpPr>
        <p:spPr>
          <a:xfrm>
            <a:off x="2745360" y="2331720"/>
            <a:ext cx="9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dirty="0">
                <a:solidFill>
                  <a:srgbClr val="94A3B8"/>
                </a:solidFill>
                <a:latin typeface="Calibri" pitchFamily="34" charset="0"/>
              </a:rPr>
              <a:t>—</a:t>
            </a:r>
          </a:p>
        </p:txBody>
      </p:sp>
      <p:sp>
        <p:nvSpPr>
          <p:cNvPr id="55" name="LTP"/>
          <p:cNvSpPr/>
          <p:nvPr/>
        </p:nvSpPr>
        <p:spPr>
          <a:xfrm>
            <a:off x="182880" y="2880360"/>
            <a:ext cx="27432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56" name="LT"/>
          <p:cNvSpPr/>
          <p:nvPr/>
        </p:nvSpPr>
        <p:spPr>
          <a:xfrm>
            <a:off x="502920" y="2880360"/>
            <a:ext cx="136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vi-VN" sz="950" dirty="0">
                <a:solidFill>
                  <a:srgbClr val="374151"/>
                </a:solidFill>
                <a:latin typeface="Calibri" pitchFamily="34" charset="0"/>
              </a:rPr>
              <a:t>TP — Nhận đúng (True Positive)</a:t>
            </a:r>
          </a:p>
        </p:txBody>
      </p:sp>
      <p:sp>
        <p:nvSpPr>
          <p:cNvPr id="57" name="LFN"/>
          <p:cNvSpPr/>
          <p:nvPr/>
        </p:nvSpPr>
        <p:spPr>
          <a:xfrm>
            <a:off x="1920240" y="2880360"/>
            <a:ext cx="274320" cy="274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58" name="LF"/>
          <p:cNvSpPr/>
          <p:nvPr/>
        </p:nvSpPr>
        <p:spPr>
          <a:xfrm>
            <a:off x="224028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900"/>
              <a:t>FN — người quen bị báo UNKNOWN: 15</a:t>
            </a:r>
          </a:p>
        </p:txBody>
      </p:sp>
      <p:sp>
        <p:nvSpPr>
          <p:cNvPr id="60" name="MB"/>
          <p:cNvSpPr/>
          <p:nvPr/>
        </p:nvSpPr>
        <p:spPr>
          <a:xfrm>
            <a:off x="182880" y="3246120"/>
            <a:ext cx="4115520" cy="82296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61" name="MH"/>
          <p:cNvSpPr/>
          <p:nvPr/>
        </p:nvSpPr>
        <p:spPr>
          <a:xfrm>
            <a:off x="182880" y="3246120"/>
            <a:ext cx="411552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62" name="MHT"/>
          <p:cNvSpPr/>
          <p:nvPr/>
        </p:nvSpPr>
        <p:spPr>
          <a:xfrm>
            <a:off x="182880" y="3246120"/>
            <a:ext cx="411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200" b="1" dirty="0">
                <a:solidFill>
                  <a:srgbClr val="FFFFFF"/>
                </a:solidFill>
                <a:latin typeface="Calibri" pitchFamily="34" charset="0"/>
              </a:rPr>
              <a:t>Chỉ số đánh giá (thực đo)</a:t>
            </a:r>
          </a:p>
        </p:txBody>
      </p:sp>
      <p:sp>
        <p:nvSpPr>
          <p:cNvPr id="70" name="M0"/>
          <p:cNvSpPr/>
          <p:nvPr/>
        </p:nvSpPr>
        <p:spPr>
          <a:xfrm>
            <a:off x="274320" y="3520440"/>
            <a:ext cx="39326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00" b="1" dirty="0">
                <a:solidFill>
                  <a:srgbClr val="374151"/>
                </a:solidFill>
                <a:latin typeface="Calibri" pitchFamily="34" charset="0"/>
              </a:rPr>
              <a:t>Precision:   </a:t>
            </a:r>
            <a:r>
              <a:rPr lang="vi-VN" sz="900" dirty="0">
                <a:solidFill>
                  <a:srgbClr val="64748B"/>
                </a:solidFill>
                <a:latin typeface="Calibri" pitchFamily="34" charset="0"/>
              </a:rPr>
              <a:t>105 / (105+0) =       </a:t>
            </a:r>
            <a:r>
              <a:rPr lang="vi-VN" sz="900" b="1" dirty="0">
                <a:solidFill>
                  <a:srgbClr val="059669"/>
                </a:solidFill>
                <a:latin typeface="Calibri" pitchFamily="34" charset="0"/>
              </a:rPr>
              <a:t>100.0%</a:t>
            </a:r>
          </a:p>
        </p:txBody>
      </p:sp>
      <p:sp>
        <p:nvSpPr>
          <p:cNvPr id="71" name="M1"/>
          <p:cNvSpPr/>
          <p:nvPr/>
        </p:nvSpPr>
        <p:spPr>
          <a:xfrm>
            <a:off x="274320" y="3657600"/>
            <a:ext cx="39326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00" b="1" dirty="0">
                <a:solidFill>
                  <a:srgbClr val="374151"/>
                </a:solidFill>
                <a:latin typeface="Calibri" pitchFamily="34" charset="0"/>
              </a:rPr>
              <a:t>Recall:      </a:t>
            </a:r>
            <a:r>
              <a:rPr lang="vi-VN" sz="900" dirty="0">
                <a:solidFill>
                  <a:srgbClr val="64748B"/>
                </a:solidFill>
                <a:latin typeface="Calibri" pitchFamily="34" charset="0"/>
              </a:rPr>
              <a:t>105 / (105+15) =      </a:t>
            </a:r>
            <a:r>
              <a:rPr lang="vi-VN" sz="900" b="1" dirty="0">
                <a:solidFill>
                  <a:srgbClr val="0EA5E9"/>
                </a:solidFill>
                <a:latin typeface="Calibri" pitchFamily="34" charset="0"/>
              </a:rPr>
              <a:t> 87.5%</a:t>
            </a:r>
          </a:p>
        </p:txBody>
      </p:sp>
      <p:sp>
        <p:nvSpPr>
          <p:cNvPr id="72" name="M2"/>
          <p:cNvSpPr/>
          <p:nvPr/>
        </p:nvSpPr>
        <p:spPr>
          <a:xfrm>
            <a:off x="274320" y="3794760"/>
            <a:ext cx="39326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000"/>
              <a:t>Accuracy:    (105+40) / 160 =      90.62%</a:t>
            </a:r>
          </a:p>
        </p:txBody>
      </p:sp>
      <p:sp>
        <p:nvSpPr>
          <p:cNvPr id="73" name="M3"/>
          <p:cNvSpPr/>
          <p:nvPr/>
        </p:nvSpPr>
        <p:spPr>
          <a:xfrm>
            <a:off x="274320" y="3931920"/>
            <a:ext cx="39326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00" b="1" dirty="0">
                <a:solidFill>
                  <a:srgbClr val="374151"/>
                </a:solidFill>
                <a:latin typeface="Calibri" pitchFamily="34" charset="0"/>
              </a:rPr>
              <a:t>F1-Score:    </a:t>
            </a:r>
            <a:r>
              <a:rPr lang="vi-VN" sz="900" dirty="0">
                <a:solidFill>
                  <a:srgbClr val="64748B"/>
                </a:solidFill>
                <a:latin typeface="Calibri" pitchFamily="34" charset="0"/>
              </a:rPr>
              <a:t>2×P×R/(P+R) =         </a:t>
            </a:r>
            <a:r>
              <a:rPr lang="vi-VN" sz="900" b="1" dirty="0">
                <a:solidFill>
                  <a:srgbClr val="F59E0B"/>
                </a:solidFill>
                <a:latin typeface="Calibri" pitchFamily="34" charset="0"/>
              </a:rPr>
              <a:t> 93.33%</a:t>
            </a:r>
          </a:p>
        </p:txBody>
      </p:sp>
      <p:sp>
        <p:nvSpPr>
          <p:cNvPr id="79" name="EN"/>
          <p:cNvSpPr/>
          <p:nvPr/>
        </p:nvSpPr>
        <p:spPr>
          <a:xfrm>
            <a:off x="182880" y="4160520"/>
            <a:ext cx="4115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000"/>
              <a:t>FP = 0, TN = 40; 15 known có confidence &gt; 80 → UNKNOWN</a:t>
            </a:r>
          </a:p>
        </p:txBody>
      </p:sp>
      <p:sp>
        <p:nvSpPr>
          <p:cNvPr id="80" name="RT"/>
          <p:cNvSpPr/>
          <p:nvPr/>
        </p:nvSpPr>
        <p:spPr>
          <a:xfrm>
            <a:off x="4572720" y="640080"/>
            <a:ext cx="438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1300" b="1" dirty="0">
                <a:solidFill>
                  <a:srgbClr val="1E293B"/>
                </a:solidFill>
                <a:latin typeface="Calibri" pitchFamily="34" charset="0"/>
              </a:rPr>
              <a:t>Accuracy theo từng người (40 người)</a:t>
            </a:r>
          </a:p>
        </p:txBody>
      </p:sp>
      <p:sp>
        <p:nvSpPr>
          <p:cNvPr id="100" name="N0"/>
          <p:cNvSpPr/>
          <p:nvPr/>
        </p:nvSpPr>
        <p:spPr>
          <a:xfrm>
            <a:off x="4572720" y="96012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SV01</a:t>
            </a:r>
          </a:p>
        </p:txBody>
      </p:sp>
      <p:sp>
        <p:nvSpPr>
          <p:cNvPr id="101" name="BB0"/>
          <p:cNvSpPr/>
          <p:nvPr/>
        </p:nvSpPr>
        <p:spPr>
          <a:xfrm>
            <a:off x="5121360" y="96012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02" name="BF0"/>
          <p:cNvSpPr/>
          <p:nvPr/>
        </p:nvSpPr>
        <p:spPr>
          <a:xfrm>
            <a:off x="5121360" y="960120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03" name="BP0"/>
          <p:cNvSpPr/>
          <p:nvPr/>
        </p:nvSpPr>
        <p:spPr>
          <a:xfrm>
            <a:off x="5121360" y="960120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24" name="N1"/>
          <p:cNvSpPr/>
          <p:nvPr/>
        </p:nvSpPr>
        <p:spPr>
          <a:xfrm>
            <a:off x="4572720" y="114757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SV02</a:t>
            </a:r>
          </a:p>
        </p:txBody>
      </p:sp>
      <p:sp>
        <p:nvSpPr>
          <p:cNvPr id="104" name="BB1"/>
          <p:cNvSpPr/>
          <p:nvPr/>
        </p:nvSpPr>
        <p:spPr>
          <a:xfrm>
            <a:off x="5121360" y="114757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05" name="BF1"/>
          <p:cNvSpPr/>
          <p:nvPr/>
        </p:nvSpPr>
        <p:spPr>
          <a:xfrm>
            <a:off x="5121360" y="114757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06" name="BP1"/>
          <p:cNvSpPr/>
          <p:nvPr/>
        </p:nvSpPr>
        <p:spPr>
          <a:xfrm>
            <a:off x="5121360" y="114757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25" name="N2"/>
          <p:cNvSpPr/>
          <p:nvPr/>
        </p:nvSpPr>
        <p:spPr>
          <a:xfrm>
            <a:off x="4572720" y="133502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SV03</a:t>
            </a:r>
          </a:p>
        </p:txBody>
      </p:sp>
      <p:sp>
        <p:nvSpPr>
          <p:cNvPr id="107" name="BB2"/>
          <p:cNvSpPr/>
          <p:nvPr/>
        </p:nvSpPr>
        <p:spPr>
          <a:xfrm>
            <a:off x="5121360" y="133502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08" name="BF2"/>
          <p:cNvSpPr/>
          <p:nvPr/>
        </p:nvSpPr>
        <p:spPr>
          <a:xfrm>
            <a:off x="5121360" y="133502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09" name="BP2"/>
          <p:cNvSpPr/>
          <p:nvPr/>
        </p:nvSpPr>
        <p:spPr>
          <a:xfrm>
            <a:off x="5121360" y="133502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26" name="N3"/>
          <p:cNvSpPr/>
          <p:nvPr/>
        </p:nvSpPr>
        <p:spPr>
          <a:xfrm>
            <a:off x="4572720" y="152247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SV04</a:t>
            </a:r>
          </a:p>
        </p:txBody>
      </p:sp>
      <p:sp>
        <p:nvSpPr>
          <p:cNvPr id="110" name="BB3"/>
          <p:cNvSpPr/>
          <p:nvPr/>
        </p:nvSpPr>
        <p:spPr>
          <a:xfrm>
            <a:off x="5121360" y="152247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11" name="BF3"/>
          <p:cNvSpPr/>
          <p:nvPr/>
        </p:nvSpPr>
        <p:spPr>
          <a:xfrm>
            <a:off x="5121360" y="152247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12" name="BP3"/>
          <p:cNvSpPr/>
          <p:nvPr/>
        </p:nvSpPr>
        <p:spPr>
          <a:xfrm>
            <a:off x="5121360" y="152247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27" name="N4"/>
          <p:cNvSpPr/>
          <p:nvPr/>
        </p:nvSpPr>
        <p:spPr>
          <a:xfrm>
            <a:off x="4572720" y="170992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SV05</a:t>
            </a:r>
          </a:p>
        </p:txBody>
      </p:sp>
      <p:sp>
        <p:nvSpPr>
          <p:cNvPr id="113" name="BB4"/>
          <p:cNvSpPr/>
          <p:nvPr/>
        </p:nvSpPr>
        <p:spPr>
          <a:xfrm>
            <a:off x="5121360" y="170992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14" name="BF4"/>
          <p:cNvSpPr/>
          <p:nvPr/>
        </p:nvSpPr>
        <p:spPr>
          <a:xfrm>
            <a:off x="5121360" y="170992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15" name="BP4"/>
          <p:cNvSpPr/>
          <p:nvPr/>
        </p:nvSpPr>
        <p:spPr>
          <a:xfrm>
            <a:off x="5121360" y="170992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28" name="N5"/>
          <p:cNvSpPr/>
          <p:nvPr/>
        </p:nvSpPr>
        <p:spPr>
          <a:xfrm>
            <a:off x="4572720" y="189738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SV06</a:t>
            </a:r>
          </a:p>
        </p:txBody>
      </p:sp>
      <p:sp>
        <p:nvSpPr>
          <p:cNvPr id="116" name="BB5"/>
          <p:cNvSpPr/>
          <p:nvPr/>
        </p:nvSpPr>
        <p:spPr>
          <a:xfrm>
            <a:off x="5121360" y="189738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17" name="BF5"/>
          <p:cNvSpPr/>
          <p:nvPr/>
        </p:nvSpPr>
        <p:spPr>
          <a:xfrm>
            <a:off x="5121360" y="1897380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18" name="BP5"/>
          <p:cNvSpPr/>
          <p:nvPr/>
        </p:nvSpPr>
        <p:spPr>
          <a:xfrm>
            <a:off x="5121360" y="1897380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29" name="N6"/>
          <p:cNvSpPr/>
          <p:nvPr/>
        </p:nvSpPr>
        <p:spPr>
          <a:xfrm>
            <a:off x="4572720" y="208483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SV07</a:t>
            </a:r>
          </a:p>
        </p:txBody>
      </p:sp>
      <p:sp>
        <p:nvSpPr>
          <p:cNvPr id="119" name="BB6"/>
          <p:cNvSpPr/>
          <p:nvPr/>
        </p:nvSpPr>
        <p:spPr>
          <a:xfrm>
            <a:off x="5121360" y="208483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0" name="BF6"/>
          <p:cNvSpPr/>
          <p:nvPr/>
        </p:nvSpPr>
        <p:spPr>
          <a:xfrm>
            <a:off x="5121360" y="208483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1" name="BP6"/>
          <p:cNvSpPr/>
          <p:nvPr/>
        </p:nvSpPr>
        <p:spPr>
          <a:xfrm>
            <a:off x="5121360" y="208483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34" name="N7"/>
          <p:cNvSpPr/>
          <p:nvPr/>
        </p:nvSpPr>
        <p:spPr>
          <a:xfrm>
            <a:off x="4572720" y="227228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SV08</a:t>
            </a:r>
          </a:p>
        </p:txBody>
      </p:sp>
      <p:sp>
        <p:nvSpPr>
          <p:cNvPr id="122" name="BB7"/>
          <p:cNvSpPr/>
          <p:nvPr/>
        </p:nvSpPr>
        <p:spPr>
          <a:xfrm>
            <a:off x="5121360" y="227228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3" name="BF7"/>
          <p:cNvSpPr/>
          <p:nvPr/>
        </p:nvSpPr>
        <p:spPr>
          <a:xfrm>
            <a:off x="5121360" y="227228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4" name="BP7"/>
          <p:cNvSpPr/>
          <p:nvPr/>
        </p:nvSpPr>
        <p:spPr>
          <a:xfrm>
            <a:off x="5121360" y="227228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35" name="N8"/>
          <p:cNvSpPr/>
          <p:nvPr/>
        </p:nvSpPr>
        <p:spPr>
          <a:xfrm>
            <a:off x="4572720" y="245973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SV09</a:t>
            </a:r>
          </a:p>
        </p:txBody>
      </p:sp>
      <p:sp>
        <p:nvSpPr>
          <p:cNvPr id="125" name="BB8"/>
          <p:cNvSpPr/>
          <p:nvPr/>
        </p:nvSpPr>
        <p:spPr>
          <a:xfrm>
            <a:off x="5121360" y="245973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6" name="BF8"/>
          <p:cNvSpPr/>
          <p:nvPr/>
        </p:nvSpPr>
        <p:spPr>
          <a:xfrm>
            <a:off x="5121360" y="245973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7" name="BP8"/>
          <p:cNvSpPr/>
          <p:nvPr/>
        </p:nvSpPr>
        <p:spPr>
          <a:xfrm>
            <a:off x="5121360" y="245973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36" name="N9"/>
          <p:cNvSpPr/>
          <p:nvPr/>
        </p:nvSpPr>
        <p:spPr>
          <a:xfrm>
            <a:off x="4572720" y="264718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SV10</a:t>
            </a:r>
          </a:p>
        </p:txBody>
      </p:sp>
      <p:sp>
        <p:nvSpPr>
          <p:cNvPr id="128" name="BB9"/>
          <p:cNvSpPr/>
          <p:nvPr/>
        </p:nvSpPr>
        <p:spPr>
          <a:xfrm>
            <a:off x="5121360" y="264718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29" name="BF9"/>
          <p:cNvSpPr/>
          <p:nvPr/>
        </p:nvSpPr>
        <p:spPr>
          <a:xfrm>
            <a:off x="5121360" y="264718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0" name="BP9"/>
          <p:cNvSpPr/>
          <p:nvPr/>
        </p:nvSpPr>
        <p:spPr>
          <a:xfrm>
            <a:off x="5121360" y="264718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37" name="N10"/>
          <p:cNvSpPr/>
          <p:nvPr/>
        </p:nvSpPr>
        <p:spPr>
          <a:xfrm>
            <a:off x="4572720" y="283464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SV11</a:t>
            </a:r>
          </a:p>
        </p:txBody>
      </p:sp>
      <p:sp>
        <p:nvSpPr>
          <p:cNvPr id="131" name="BB10"/>
          <p:cNvSpPr/>
          <p:nvPr/>
        </p:nvSpPr>
        <p:spPr>
          <a:xfrm>
            <a:off x="5121360" y="283464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2" name="BF10"/>
          <p:cNvSpPr/>
          <p:nvPr/>
        </p:nvSpPr>
        <p:spPr>
          <a:xfrm>
            <a:off x="5121360" y="2834640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3" name="BP10"/>
          <p:cNvSpPr/>
          <p:nvPr/>
        </p:nvSpPr>
        <p:spPr>
          <a:xfrm>
            <a:off x="5121360" y="2834640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38" name="N11"/>
          <p:cNvSpPr/>
          <p:nvPr/>
        </p:nvSpPr>
        <p:spPr>
          <a:xfrm>
            <a:off x="4572720" y="302209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SV12</a:t>
            </a:r>
          </a:p>
        </p:txBody>
      </p:sp>
      <p:sp>
        <p:nvSpPr>
          <p:cNvPr id="134" name="BB11"/>
          <p:cNvSpPr/>
          <p:nvPr/>
        </p:nvSpPr>
        <p:spPr>
          <a:xfrm>
            <a:off x="5121360" y="302209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5" name="BF11"/>
          <p:cNvSpPr/>
          <p:nvPr/>
        </p:nvSpPr>
        <p:spPr>
          <a:xfrm>
            <a:off x="5121360" y="302209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6" name="BP11"/>
          <p:cNvSpPr/>
          <p:nvPr/>
        </p:nvSpPr>
        <p:spPr>
          <a:xfrm>
            <a:off x="5121360" y="302209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39" name="N12"/>
          <p:cNvSpPr/>
          <p:nvPr/>
        </p:nvSpPr>
        <p:spPr>
          <a:xfrm>
            <a:off x="4572720" y="320954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SV13</a:t>
            </a:r>
          </a:p>
        </p:txBody>
      </p:sp>
      <p:sp>
        <p:nvSpPr>
          <p:cNvPr id="137" name="BB12"/>
          <p:cNvSpPr/>
          <p:nvPr/>
        </p:nvSpPr>
        <p:spPr>
          <a:xfrm>
            <a:off x="5121360" y="320954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8" name="BF12"/>
          <p:cNvSpPr/>
          <p:nvPr/>
        </p:nvSpPr>
        <p:spPr>
          <a:xfrm>
            <a:off x="5121360" y="320954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39" name="BP12"/>
          <p:cNvSpPr/>
          <p:nvPr/>
        </p:nvSpPr>
        <p:spPr>
          <a:xfrm>
            <a:off x="5121360" y="320954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50" name="N13"/>
          <p:cNvSpPr/>
          <p:nvPr/>
        </p:nvSpPr>
        <p:spPr>
          <a:xfrm>
            <a:off x="4572720" y="339699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SV14</a:t>
            </a:r>
          </a:p>
        </p:txBody>
      </p:sp>
      <p:sp>
        <p:nvSpPr>
          <p:cNvPr id="140" name="BB13"/>
          <p:cNvSpPr/>
          <p:nvPr/>
        </p:nvSpPr>
        <p:spPr>
          <a:xfrm>
            <a:off x="5121360" y="339699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41" name="BF13"/>
          <p:cNvSpPr/>
          <p:nvPr/>
        </p:nvSpPr>
        <p:spPr>
          <a:xfrm>
            <a:off x="5121360" y="339699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42" name="BP13"/>
          <p:cNvSpPr/>
          <p:nvPr/>
        </p:nvSpPr>
        <p:spPr>
          <a:xfrm>
            <a:off x="5121360" y="339699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51" name="N14"/>
          <p:cNvSpPr/>
          <p:nvPr/>
        </p:nvSpPr>
        <p:spPr>
          <a:xfrm>
            <a:off x="4572720" y="358444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SV15</a:t>
            </a:r>
          </a:p>
        </p:txBody>
      </p:sp>
      <p:sp>
        <p:nvSpPr>
          <p:cNvPr id="143" name="BB14"/>
          <p:cNvSpPr/>
          <p:nvPr/>
        </p:nvSpPr>
        <p:spPr>
          <a:xfrm>
            <a:off x="5121360" y="358444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44" name="BF14"/>
          <p:cNvSpPr/>
          <p:nvPr/>
        </p:nvSpPr>
        <p:spPr>
          <a:xfrm>
            <a:off x="5121360" y="358444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45" name="BP14"/>
          <p:cNvSpPr/>
          <p:nvPr/>
        </p:nvSpPr>
        <p:spPr>
          <a:xfrm>
            <a:off x="5121360" y="358444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52" name="N15"/>
          <p:cNvSpPr/>
          <p:nvPr/>
        </p:nvSpPr>
        <p:spPr>
          <a:xfrm>
            <a:off x="4572720" y="377190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SV16</a:t>
            </a:r>
          </a:p>
        </p:txBody>
      </p:sp>
      <p:sp>
        <p:nvSpPr>
          <p:cNvPr id="146" name="BB15"/>
          <p:cNvSpPr/>
          <p:nvPr/>
        </p:nvSpPr>
        <p:spPr>
          <a:xfrm>
            <a:off x="5121360" y="377190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48" name="BP15"/>
          <p:cNvSpPr/>
          <p:nvPr/>
        </p:nvSpPr>
        <p:spPr>
          <a:xfrm>
            <a:off x="6748632" y="3771900"/>
            <a:ext cx="2743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vi-VN" sz="850" b="1" dirty="0">
                <a:solidFill>
                  <a:srgbClr val="DC2626"/>
                </a:solidFill>
                <a:latin typeface="Calibri" pitchFamily="34" charset="0"/>
              </a:rPr>
              <a:t>0%</a:t>
            </a:r>
          </a:p>
        </p:txBody>
      </p:sp>
      <p:sp>
        <p:nvSpPr>
          <p:cNvPr id="53" name="N16"/>
          <p:cNvSpPr/>
          <p:nvPr/>
        </p:nvSpPr>
        <p:spPr>
          <a:xfrm>
            <a:off x="4572720" y="395935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SV17</a:t>
            </a:r>
          </a:p>
        </p:txBody>
      </p:sp>
      <p:sp>
        <p:nvSpPr>
          <p:cNvPr id="149" name="BB16"/>
          <p:cNvSpPr/>
          <p:nvPr/>
        </p:nvSpPr>
        <p:spPr>
          <a:xfrm>
            <a:off x="5121360" y="395935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0" name="BF16"/>
          <p:cNvSpPr/>
          <p:nvPr/>
        </p:nvSpPr>
        <p:spPr>
          <a:xfrm>
            <a:off x="5121360" y="395935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1" name="BP16"/>
          <p:cNvSpPr/>
          <p:nvPr/>
        </p:nvSpPr>
        <p:spPr>
          <a:xfrm>
            <a:off x="5121360" y="395935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54" name="N17"/>
          <p:cNvSpPr/>
          <p:nvPr/>
        </p:nvSpPr>
        <p:spPr>
          <a:xfrm>
            <a:off x="4572720" y="414680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SV18</a:t>
            </a:r>
          </a:p>
        </p:txBody>
      </p:sp>
      <p:sp>
        <p:nvSpPr>
          <p:cNvPr id="152" name="BB17"/>
          <p:cNvSpPr/>
          <p:nvPr/>
        </p:nvSpPr>
        <p:spPr>
          <a:xfrm>
            <a:off x="5121360" y="414680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3" name="BF17"/>
          <p:cNvSpPr/>
          <p:nvPr/>
        </p:nvSpPr>
        <p:spPr>
          <a:xfrm>
            <a:off x="5121360" y="414680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4" name="BP17"/>
          <p:cNvSpPr/>
          <p:nvPr/>
        </p:nvSpPr>
        <p:spPr>
          <a:xfrm>
            <a:off x="5121360" y="414680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59" name="N18"/>
          <p:cNvSpPr/>
          <p:nvPr/>
        </p:nvSpPr>
        <p:spPr>
          <a:xfrm>
            <a:off x="4572720" y="433425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SV19</a:t>
            </a:r>
          </a:p>
        </p:txBody>
      </p:sp>
      <p:sp>
        <p:nvSpPr>
          <p:cNvPr id="155" name="BB18"/>
          <p:cNvSpPr/>
          <p:nvPr/>
        </p:nvSpPr>
        <p:spPr>
          <a:xfrm>
            <a:off x="5121360" y="433425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6" name="BF18"/>
          <p:cNvSpPr/>
          <p:nvPr/>
        </p:nvSpPr>
        <p:spPr>
          <a:xfrm>
            <a:off x="5121360" y="433425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7" name="BP18"/>
          <p:cNvSpPr/>
          <p:nvPr/>
        </p:nvSpPr>
        <p:spPr>
          <a:xfrm>
            <a:off x="5121360" y="433425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3" name="N19"/>
          <p:cNvSpPr/>
          <p:nvPr/>
        </p:nvSpPr>
        <p:spPr>
          <a:xfrm>
            <a:off x="4572720" y="452170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SV20</a:t>
            </a:r>
          </a:p>
        </p:txBody>
      </p:sp>
      <p:sp>
        <p:nvSpPr>
          <p:cNvPr id="158" name="BB19"/>
          <p:cNvSpPr/>
          <p:nvPr/>
        </p:nvSpPr>
        <p:spPr>
          <a:xfrm>
            <a:off x="5121360" y="452170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59" name="BF19"/>
          <p:cNvSpPr/>
          <p:nvPr/>
        </p:nvSpPr>
        <p:spPr>
          <a:xfrm>
            <a:off x="5121360" y="452170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0" name="BP19"/>
          <p:cNvSpPr/>
          <p:nvPr/>
        </p:nvSpPr>
        <p:spPr>
          <a:xfrm>
            <a:off x="5121360" y="452170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4" name="N20"/>
          <p:cNvSpPr/>
          <p:nvPr/>
        </p:nvSpPr>
        <p:spPr>
          <a:xfrm>
            <a:off x="6812640" y="96012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SV21</a:t>
            </a:r>
          </a:p>
        </p:txBody>
      </p:sp>
      <p:sp>
        <p:nvSpPr>
          <p:cNvPr id="161" name="BB20"/>
          <p:cNvSpPr/>
          <p:nvPr/>
        </p:nvSpPr>
        <p:spPr>
          <a:xfrm>
            <a:off x="7361280" y="96012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2" name="BF20"/>
          <p:cNvSpPr/>
          <p:nvPr/>
        </p:nvSpPr>
        <p:spPr>
          <a:xfrm>
            <a:off x="7361280" y="960120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3" name="BP20"/>
          <p:cNvSpPr/>
          <p:nvPr/>
        </p:nvSpPr>
        <p:spPr>
          <a:xfrm>
            <a:off x="7361280" y="960120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5" name="N21"/>
          <p:cNvSpPr/>
          <p:nvPr/>
        </p:nvSpPr>
        <p:spPr>
          <a:xfrm>
            <a:off x="6812640" y="114757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SV22</a:t>
            </a:r>
          </a:p>
        </p:txBody>
      </p:sp>
      <p:sp>
        <p:nvSpPr>
          <p:cNvPr id="164" name="BB21"/>
          <p:cNvSpPr/>
          <p:nvPr/>
        </p:nvSpPr>
        <p:spPr>
          <a:xfrm>
            <a:off x="7361280" y="114757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5" name="BF21"/>
          <p:cNvSpPr/>
          <p:nvPr/>
        </p:nvSpPr>
        <p:spPr>
          <a:xfrm>
            <a:off x="7361280" y="114757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6" name="BP21"/>
          <p:cNvSpPr/>
          <p:nvPr/>
        </p:nvSpPr>
        <p:spPr>
          <a:xfrm>
            <a:off x="7361280" y="114757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6" name="N22"/>
          <p:cNvSpPr/>
          <p:nvPr/>
        </p:nvSpPr>
        <p:spPr>
          <a:xfrm>
            <a:off x="6812640" y="133502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SV23</a:t>
            </a:r>
          </a:p>
        </p:txBody>
      </p:sp>
      <p:sp>
        <p:nvSpPr>
          <p:cNvPr id="167" name="BB22"/>
          <p:cNvSpPr/>
          <p:nvPr/>
        </p:nvSpPr>
        <p:spPr>
          <a:xfrm>
            <a:off x="7361280" y="133502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8" name="BF22"/>
          <p:cNvSpPr/>
          <p:nvPr/>
        </p:nvSpPr>
        <p:spPr>
          <a:xfrm>
            <a:off x="7361280" y="133502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9" name="BP22"/>
          <p:cNvSpPr/>
          <p:nvPr/>
        </p:nvSpPr>
        <p:spPr>
          <a:xfrm>
            <a:off x="7361280" y="133502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7" name="N23"/>
          <p:cNvSpPr/>
          <p:nvPr/>
        </p:nvSpPr>
        <p:spPr>
          <a:xfrm>
            <a:off x="6812640" y="152247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SV24</a:t>
            </a:r>
          </a:p>
        </p:txBody>
      </p:sp>
      <p:sp>
        <p:nvSpPr>
          <p:cNvPr id="170" name="BB23"/>
          <p:cNvSpPr/>
          <p:nvPr/>
        </p:nvSpPr>
        <p:spPr>
          <a:xfrm>
            <a:off x="7361280" y="152247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71" name="BF23"/>
          <p:cNvSpPr/>
          <p:nvPr/>
        </p:nvSpPr>
        <p:spPr>
          <a:xfrm>
            <a:off x="7361280" y="152247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72" name="BP23"/>
          <p:cNvSpPr/>
          <p:nvPr/>
        </p:nvSpPr>
        <p:spPr>
          <a:xfrm>
            <a:off x="7361280" y="152247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8" name="N24"/>
          <p:cNvSpPr/>
          <p:nvPr/>
        </p:nvSpPr>
        <p:spPr>
          <a:xfrm>
            <a:off x="6812640" y="170992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SV25</a:t>
            </a:r>
          </a:p>
        </p:txBody>
      </p:sp>
      <p:sp>
        <p:nvSpPr>
          <p:cNvPr id="173" name="BB24"/>
          <p:cNvSpPr/>
          <p:nvPr/>
        </p:nvSpPr>
        <p:spPr>
          <a:xfrm>
            <a:off x="7361280" y="170992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74" name="BF24"/>
          <p:cNvSpPr/>
          <p:nvPr/>
        </p:nvSpPr>
        <p:spPr>
          <a:xfrm>
            <a:off x="7361280" y="170992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75" name="BP24"/>
          <p:cNvSpPr/>
          <p:nvPr/>
        </p:nvSpPr>
        <p:spPr>
          <a:xfrm>
            <a:off x="7361280" y="170992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69" name="N25"/>
          <p:cNvSpPr/>
          <p:nvPr/>
        </p:nvSpPr>
        <p:spPr>
          <a:xfrm>
            <a:off x="6812640" y="189738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SV26</a:t>
            </a:r>
          </a:p>
        </p:txBody>
      </p:sp>
      <p:sp>
        <p:nvSpPr>
          <p:cNvPr id="176" name="BB25"/>
          <p:cNvSpPr/>
          <p:nvPr/>
        </p:nvSpPr>
        <p:spPr>
          <a:xfrm>
            <a:off x="7361280" y="189738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78" name="BP25"/>
          <p:cNvSpPr/>
          <p:nvPr/>
        </p:nvSpPr>
        <p:spPr>
          <a:xfrm>
            <a:off x="8988552" y="1897380"/>
            <a:ext cx="2743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vi-VN" sz="850" b="1" dirty="0">
                <a:solidFill>
                  <a:srgbClr val="DC2626"/>
                </a:solidFill>
                <a:latin typeface="Calibri" pitchFamily="34" charset="0"/>
              </a:rPr>
              <a:t>0%</a:t>
            </a:r>
          </a:p>
        </p:txBody>
      </p:sp>
      <p:sp>
        <p:nvSpPr>
          <p:cNvPr id="74" name="N26"/>
          <p:cNvSpPr/>
          <p:nvPr/>
        </p:nvSpPr>
        <p:spPr>
          <a:xfrm>
            <a:off x="6812640" y="208483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SV27</a:t>
            </a:r>
          </a:p>
        </p:txBody>
      </p:sp>
      <p:sp>
        <p:nvSpPr>
          <p:cNvPr id="179" name="BB26"/>
          <p:cNvSpPr/>
          <p:nvPr/>
        </p:nvSpPr>
        <p:spPr>
          <a:xfrm>
            <a:off x="7361280" y="208483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0" name="BF26"/>
          <p:cNvSpPr/>
          <p:nvPr/>
        </p:nvSpPr>
        <p:spPr>
          <a:xfrm>
            <a:off x="7361280" y="208483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1" name="BP26"/>
          <p:cNvSpPr/>
          <p:nvPr/>
        </p:nvSpPr>
        <p:spPr>
          <a:xfrm>
            <a:off x="7361280" y="208483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75" name="N27"/>
          <p:cNvSpPr/>
          <p:nvPr/>
        </p:nvSpPr>
        <p:spPr>
          <a:xfrm>
            <a:off x="6812640" y="227228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SV28</a:t>
            </a:r>
          </a:p>
        </p:txBody>
      </p:sp>
      <p:sp>
        <p:nvSpPr>
          <p:cNvPr id="182" name="BB27"/>
          <p:cNvSpPr/>
          <p:nvPr/>
        </p:nvSpPr>
        <p:spPr>
          <a:xfrm>
            <a:off x="7361280" y="227228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3" name="BF27"/>
          <p:cNvSpPr/>
          <p:nvPr/>
        </p:nvSpPr>
        <p:spPr>
          <a:xfrm>
            <a:off x="7361280" y="2272284"/>
            <a:ext cx="799920" cy="1600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4" name="BP27"/>
          <p:cNvSpPr/>
          <p:nvPr/>
        </p:nvSpPr>
        <p:spPr>
          <a:xfrm>
            <a:off x="7361280" y="2272284"/>
            <a:ext cx="781632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50%</a:t>
            </a:r>
          </a:p>
        </p:txBody>
      </p:sp>
      <p:sp>
        <p:nvSpPr>
          <p:cNvPr id="76" name="N28"/>
          <p:cNvSpPr/>
          <p:nvPr/>
        </p:nvSpPr>
        <p:spPr>
          <a:xfrm>
            <a:off x="6812640" y="245973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SV29</a:t>
            </a:r>
          </a:p>
        </p:txBody>
      </p:sp>
      <p:sp>
        <p:nvSpPr>
          <p:cNvPr id="185" name="BB28"/>
          <p:cNvSpPr/>
          <p:nvPr/>
        </p:nvSpPr>
        <p:spPr>
          <a:xfrm>
            <a:off x="7361280" y="245973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6" name="BF28"/>
          <p:cNvSpPr/>
          <p:nvPr/>
        </p:nvSpPr>
        <p:spPr>
          <a:xfrm>
            <a:off x="7361280" y="245973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7" name="BP28"/>
          <p:cNvSpPr/>
          <p:nvPr/>
        </p:nvSpPr>
        <p:spPr>
          <a:xfrm>
            <a:off x="7361280" y="245973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77" name="N29"/>
          <p:cNvSpPr/>
          <p:nvPr/>
        </p:nvSpPr>
        <p:spPr>
          <a:xfrm>
            <a:off x="6812640" y="264718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SV30</a:t>
            </a:r>
          </a:p>
        </p:txBody>
      </p:sp>
      <p:sp>
        <p:nvSpPr>
          <p:cNvPr id="188" name="BB29"/>
          <p:cNvSpPr/>
          <p:nvPr/>
        </p:nvSpPr>
        <p:spPr>
          <a:xfrm>
            <a:off x="7361280" y="264718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89" name="BF29"/>
          <p:cNvSpPr/>
          <p:nvPr/>
        </p:nvSpPr>
        <p:spPr>
          <a:xfrm>
            <a:off x="7361280" y="264718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0" name="BP29"/>
          <p:cNvSpPr/>
          <p:nvPr/>
        </p:nvSpPr>
        <p:spPr>
          <a:xfrm>
            <a:off x="7361280" y="264718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78" name="N30"/>
          <p:cNvSpPr/>
          <p:nvPr/>
        </p:nvSpPr>
        <p:spPr>
          <a:xfrm>
            <a:off x="6812640" y="283464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SV31</a:t>
            </a:r>
          </a:p>
        </p:txBody>
      </p:sp>
      <p:sp>
        <p:nvSpPr>
          <p:cNvPr id="191" name="BB30"/>
          <p:cNvSpPr/>
          <p:nvPr/>
        </p:nvSpPr>
        <p:spPr>
          <a:xfrm>
            <a:off x="7361280" y="283464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2" name="BF30"/>
          <p:cNvSpPr/>
          <p:nvPr/>
        </p:nvSpPr>
        <p:spPr>
          <a:xfrm>
            <a:off x="7361280" y="2834640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3" name="BP30"/>
          <p:cNvSpPr/>
          <p:nvPr/>
        </p:nvSpPr>
        <p:spPr>
          <a:xfrm>
            <a:off x="7361280" y="2834640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81" name="N31"/>
          <p:cNvSpPr/>
          <p:nvPr/>
        </p:nvSpPr>
        <p:spPr>
          <a:xfrm>
            <a:off x="6812640" y="302209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SV32</a:t>
            </a:r>
          </a:p>
        </p:txBody>
      </p:sp>
      <p:sp>
        <p:nvSpPr>
          <p:cNvPr id="194" name="BB31"/>
          <p:cNvSpPr/>
          <p:nvPr/>
        </p:nvSpPr>
        <p:spPr>
          <a:xfrm>
            <a:off x="7361280" y="302209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5" name="BF31"/>
          <p:cNvSpPr/>
          <p:nvPr/>
        </p:nvSpPr>
        <p:spPr>
          <a:xfrm>
            <a:off x="7361280" y="3022092"/>
            <a:ext cx="799920" cy="1600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6" name="BP31"/>
          <p:cNvSpPr/>
          <p:nvPr/>
        </p:nvSpPr>
        <p:spPr>
          <a:xfrm>
            <a:off x="7361280" y="3022092"/>
            <a:ext cx="781632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50%</a:t>
            </a:r>
          </a:p>
        </p:txBody>
      </p:sp>
      <p:sp>
        <p:nvSpPr>
          <p:cNvPr id="82" name="N32"/>
          <p:cNvSpPr/>
          <p:nvPr/>
        </p:nvSpPr>
        <p:spPr>
          <a:xfrm>
            <a:off x="6812640" y="320954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SV33</a:t>
            </a:r>
          </a:p>
        </p:txBody>
      </p:sp>
      <p:sp>
        <p:nvSpPr>
          <p:cNvPr id="197" name="BB32"/>
          <p:cNvSpPr/>
          <p:nvPr/>
        </p:nvSpPr>
        <p:spPr>
          <a:xfrm>
            <a:off x="7361280" y="320954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8" name="BF32"/>
          <p:cNvSpPr/>
          <p:nvPr/>
        </p:nvSpPr>
        <p:spPr>
          <a:xfrm>
            <a:off x="7361280" y="320954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99" name="BP32"/>
          <p:cNvSpPr/>
          <p:nvPr/>
        </p:nvSpPr>
        <p:spPr>
          <a:xfrm>
            <a:off x="7361280" y="320954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83" name="N33"/>
          <p:cNvSpPr/>
          <p:nvPr/>
        </p:nvSpPr>
        <p:spPr>
          <a:xfrm>
            <a:off x="6812640" y="339699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SV34</a:t>
            </a:r>
          </a:p>
        </p:txBody>
      </p:sp>
      <p:sp>
        <p:nvSpPr>
          <p:cNvPr id="200" name="BB33"/>
          <p:cNvSpPr/>
          <p:nvPr/>
        </p:nvSpPr>
        <p:spPr>
          <a:xfrm>
            <a:off x="7361280" y="339699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01" name="BF33"/>
          <p:cNvSpPr/>
          <p:nvPr/>
        </p:nvSpPr>
        <p:spPr>
          <a:xfrm>
            <a:off x="7361280" y="3396996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02" name="BP33"/>
          <p:cNvSpPr/>
          <p:nvPr/>
        </p:nvSpPr>
        <p:spPr>
          <a:xfrm>
            <a:off x="7361280" y="3396996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84" name="N34"/>
          <p:cNvSpPr/>
          <p:nvPr/>
        </p:nvSpPr>
        <p:spPr>
          <a:xfrm>
            <a:off x="6812640" y="358444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SV35</a:t>
            </a:r>
          </a:p>
        </p:txBody>
      </p:sp>
      <p:sp>
        <p:nvSpPr>
          <p:cNvPr id="203" name="BB34"/>
          <p:cNvSpPr/>
          <p:nvPr/>
        </p:nvSpPr>
        <p:spPr>
          <a:xfrm>
            <a:off x="7361280" y="358444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04" name="BF34"/>
          <p:cNvSpPr/>
          <p:nvPr/>
        </p:nvSpPr>
        <p:spPr>
          <a:xfrm>
            <a:off x="7361280" y="358444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05" name="BP34"/>
          <p:cNvSpPr/>
          <p:nvPr/>
        </p:nvSpPr>
        <p:spPr>
          <a:xfrm>
            <a:off x="7361280" y="358444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85" name="N35"/>
          <p:cNvSpPr/>
          <p:nvPr/>
        </p:nvSpPr>
        <p:spPr>
          <a:xfrm>
            <a:off x="6812640" y="3771900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SV36</a:t>
            </a:r>
          </a:p>
        </p:txBody>
      </p:sp>
      <p:sp>
        <p:nvSpPr>
          <p:cNvPr id="206" name="BB35"/>
          <p:cNvSpPr/>
          <p:nvPr/>
        </p:nvSpPr>
        <p:spPr>
          <a:xfrm>
            <a:off x="7361280" y="3771900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07" name="BF35"/>
          <p:cNvSpPr/>
          <p:nvPr/>
        </p:nvSpPr>
        <p:spPr>
          <a:xfrm>
            <a:off x="7361280" y="3771900"/>
            <a:ext cx="799920" cy="1600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08" name="BP35"/>
          <p:cNvSpPr/>
          <p:nvPr/>
        </p:nvSpPr>
        <p:spPr>
          <a:xfrm>
            <a:off x="7361280" y="3771900"/>
            <a:ext cx="781632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50%</a:t>
            </a:r>
          </a:p>
        </p:txBody>
      </p:sp>
      <p:sp>
        <p:nvSpPr>
          <p:cNvPr id="86" name="N36"/>
          <p:cNvSpPr/>
          <p:nvPr/>
        </p:nvSpPr>
        <p:spPr>
          <a:xfrm>
            <a:off x="6812640" y="3959352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SV37</a:t>
            </a:r>
          </a:p>
        </p:txBody>
      </p:sp>
      <p:sp>
        <p:nvSpPr>
          <p:cNvPr id="209" name="BB36"/>
          <p:cNvSpPr/>
          <p:nvPr/>
        </p:nvSpPr>
        <p:spPr>
          <a:xfrm>
            <a:off x="7361280" y="3959352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0" name="BF36"/>
          <p:cNvSpPr/>
          <p:nvPr/>
        </p:nvSpPr>
        <p:spPr>
          <a:xfrm>
            <a:off x="7361280" y="3959352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1" name="BP36"/>
          <p:cNvSpPr/>
          <p:nvPr/>
        </p:nvSpPr>
        <p:spPr>
          <a:xfrm>
            <a:off x="7361280" y="3959352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87" name="N37"/>
          <p:cNvSpPr/>
          <p:nvPr/>
        </p:nvSpPr>
        <p:spPr>
          <a:xfrm>
            <a:off x="6812640" y="4146804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SV38</a:t>
            </a:r>
          </a:p>
        </p:txBody>
      </p:sp>
      <p:sp>
        <p:nvSpPr>
          <p:cNvPr id="212" name="BB37"/>
          <p:cNvSpPr/>
          <p:nvPr/>
        </p:nvSpPr>
        <p:spPr>
          <a:xfrm>
            <a:off x="7361280" y="4146804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3" name="BF37"/>
          <p:cNvSpPr/>
          <p:nvPr/>
        </p:nvSpPr>
        <p:spPr>
          <a:xfrm>
            <a:off x="7361280" y="4146804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4" name="BP37"/>
          <p:cNvSpPr/>
          <p:nvPr/>
        </p:nvSpPr>
        <p:spPr>
          <a:xfrm>
            <a:off x="7361280" y="4146804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88" name="N38"/>
          <p:cNvSpPr/>
          <p:nvPr/>
        </p:nvSpPr>
        <p:spPr>
          <a:xfrm>
            <a:off x="6812640" y="4334256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SV39</a:t>
            </a:r>
          </a:p>
        </p:txBody>
      </p:sp>
      <p:sp>
        <p:nvSpPr>
          <p:cNvPr id="215" name="BB38"/>
          <p:cNvSpPr/>
          <p:nvPr/>
        </p:nvSpPr>
        <p:spPr>
          <a:xfrm>
            <a:off x="7361280" y="4334256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7" name="BP38"/>
          <p:cNvSpPr/>
          <p:nvPr/>
        </p:nvSpPr>
        <p:spPr>
          <a:xfrm>
            <a:off x="8988552" y="4334256"/>
            <a:ext cx="2743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vi-VN" sz="850" b="1" dirty="0">
                <a:solidFill>
                  <a:srgbClr val="DC2626"/>
                </a:solidFill>
                <a:latin typeface="Calibri" pitchFamily="34" charset="0"/>
              </a:rPr>
              <a:t>0%</a:t>
            </a:r>
          </a:p>
        </p:txBody>
      </p:sp>
      <p:sp>
        <p:nvSpPr>
          <p:cNvPr id="89" name="N39"/>
          <p:cNvSpPr/>
          <p:nvPr/>
        </p:nvSpPr>
        <p:spPr>
          <a:xfrm>
            <a:off x="6812640" y="4521708"/>
            <a:ext cx="5029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374151"/>
                </a:solidFill>
                <a:latin typeface="Calibri" pitchFamily="34" charset="0"/>
              </a:rPr>
              <a:t>SV40</a:t>
            </a:r>
          </a:p>
        </p:txBody>
      </p:sp>
      <p:sp>
        <p:nvSpPr>
          <p:cNvPr id="218" name="BB39"/>
          <p:cNvSpPr/>
          <p:nvPr/>
        </p:nvSpPr>
        <p:spPr>
          <a:xfrm>
            <a:off x="7361280" y="4521708"/>
            <a:ext cx="1599840" cy="160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19" name="BF39"/>
          <p:cNvSpPr/>
          <p:nvPr/>
        </p:nvSpPr>
        <p:spPr>
          <a:xfrm>
            <a:off x="7361280" y="4521708"/>
            <a:ext cx="1599840" cy="1600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220" name="BP39"/>
          <p:cNvSpPr/>
          <p:nvPr/>
        </p:nvSpPr>
        <p:spPr>
          <a:xfrm>
            <a:off x="7361280" y="4521708"/>
            <a:ext cx="1554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850" b="1" dirty="0">
                <a:solidFill>
                  <a:srgbClr val="FFFFFF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90" name="LB"/>
          <p:cNvSpPr/>
          <p:nvPr/>
        </p:nvSpPr>
        <p:spPr>
          <a:xfrm>
            <a:off x="4572720" y="4914900"/>
            <a:ext cx="4388400" cy="1828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91" name="LT"/>
          <p:cNvSpPr/>
          <p:nvPr/>
        </p:nvSpPr>
        <p:spPr>
          <a:xfrm>
            <a:off x="4664160" y="4914900"/>
            <a:ext cx="420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950" b="1" dirty="0">
                <a:solidFill>
                  <a:srgbClr val="059669"/>
                </a:solidFill>
                <a:latin typeface="Calibri" pitchFamily="34" charset="0"/>
              </a:rPr>
              <a:t>● 100%  </a:t>
            </a:r>
            <a:r>
              <a:rPr lang="vi-VN" sz="950" b="1" dirty="0">
                <a:solidFill>
                  <a:srgbClr val="F97316"/>
                </a:solidFill>
                <a:latin typeface="Calibri" pitchFamily="34" charset="0"/>
              </a:rPr>
              <a:t>● 50%  </a:t>
            </a:r>
            <a:r>
              <a:rPr lang="vi-VN" sz="950" b="1" dirty="0">
                <a:solidFill>
                  <a:srgbClr val="DC2626"/>
                </a:solidFill>
                <a:latin typeface="Calibri" pitchFamily="34" charset="0"/>
              </a:rPr>
              <a:t>● 0%  </a:t>
            </a:r>
            <a:r>
              <a:rPr lang="vi-VN" sz="1000" b="1" dirty="0">
                <a:solidFill>
                  <a:srgbClr val="1E293B"/>
                </a:solidFill>
                <a:latin typeface="Calibri" pitchFamily="34" charset="0"/>
              </a:rPr>
              <a:t>          Trung bình: 90.62%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khi có người đến khi cửa mở — end-to-end dưới 0.8 giây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PIR Trigger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26517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phát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PERSON_DETECTED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3200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MQTT Broker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417320"/>
            <a:ext cx="26517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relay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tới Python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1600200"/>
            <a:ext cx="3200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Dataset Sample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ngẫu nhiên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từ dataset/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2788920"/>
            <a:ext cx="2651760" cy="45720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LBPH Predict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3246120"/>
            <a:ext cx="26517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80?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PRESENT:Name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3429000"/>
            <a:ext cx="3200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651760" cy="45720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SQLite Write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3246120"/>
            <a:ext cx="26517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4612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name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confidence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3429000"/>
            <a:ext cx="3200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651760" cy="457200"/>
          </a:xfrm>
          <a:prstGeom prst="rect">
            <a:avLst/>
          </a:prstGeom>
          <a:solidFill>
            <a:srgbClr val="1E6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Relay Open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246120"/>
            <a:ext cx="265176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OPEN_DOOR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giây → CLOSE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4617720"/>
            <a:ext cx="8778240" cy="4114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" y="4617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&lt; 0.8s end-to-end  ·  Cooldown 5s  ·  Threading: nhận diện async  ·  PRESENT:Name → SQLite + OPEN_DOOR 5s  ·  UNKNOWN → DENY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realtime: http://localhost:5000 · MQTT → SocketIO → Browser tự động cập nhật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8686800" cy="4297680"/>
          </a:xfrm>
          <a:prstGeom prst="rect">
            <a:avLst/>
          </a:prstGeom>
          <a:solidFill>
            <a:srgbClr val="07080F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86968"/>
            <a:ext cx="8686800" cy="502920"/>
          </a:xfrm>
          <a:prstGeom prst="rect">
            <a:avLst/>
          </a:prstGeom>
          <a:solidFill>
            <a:srgbClr val="0D0F1C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9264"/>
            <a:ext cx="329184" cy="329184"/>
          </a:xfrm>
          <a:prstGeom prst="rect">
            <a:avLst/>
          </a:prstGeom>
          <a:solidFill>
            <a:srgbClr val="07080F"/>
          </a:solidFill>
          <a:ln w="12700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5A0"/>
                </a:solidFill>
              </a:rPr>
              <a:t>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9692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ĐIỂM DANH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152144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Attendance System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0" y="1060704"/>
            <a:ext cx="91440" cy="91440"/>
          </a:xfrm>
          <a:prstGeom prst="ellipse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09560" y="1005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Online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2606040" cy="777240"/>
          </a:xfrm>
          <a:prstGeom prst="rect">
            <a:avLst/>
          </a:prstGeom>
          <a:solidFill>
            <a:srgbClr val="111326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2606040" cy="4572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54533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ĐIỂM DANH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737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208483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ghi nhận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54680" y="1481328"/>
            <a:ext cx="2606040" cy="777240"/>
          </a:xfrm>
          <a:prstGeom prst="rect">
            <a:avLst/>
          </a:prstGeom>
          <a:solidFill>
            <a:srgbClr val="111326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54680" y="1481328"/>
            <a:ext cx="2606040" cy="4572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54680" y="154533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154680" y="1737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54680" y="208483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hôm nay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43600" y="1481328"/>
            <a:ext cx="2606040" cy="777240"/>
          </a:xfrm>
          <a:prstGeom prst="rect">
            <a:avLst/>
          </a:prstGeom>
          <a:solidFill>
            <a:srgbClr val="111326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0" y="1481328"/>
            <a:ext cx="2606040" cy="4572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154533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NGƯỜI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43600" y="1737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943600" y="208483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khác nhau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2331720"/>
            <a:ext cx="5669280" cy="2697480"/>
          </a:xfrm>
          <a:prstGeom prst="rect">
            <a:avLst/>
          </a:prstGeom>
          <a:solidFill>
            <a:srgbClr val="111326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2331720"/>
            <a:ext cx="5669280" cy="347472"/>
          </a:xfrm>
          <a:prstGeom prst="rect">
            <a:avLst/>
          </a:prstGeom>
          <a:solidFill>
            <a:srgbClr val="0D0F1C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2377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ĐIỂM DANH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2395728"/>
            <a:ext cx="868680" cy="201168"/>
          </a:xfrm>
          <a:prstGeom prst="roundRect">
            <a:avLst>
              <a:gd name="adj" fmla="val 45455"/>
            </a:avLst>
          </a:prstGeom>
          <a:solidFill>
            <a:srgbClr val="0D1F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23957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bản ghi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" y="2743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sinh viên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331720" y="2743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60520" y="2743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2944368"/>
            <a:ext cx="5669280" cy="18288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2999232"/>
            <a:ext cx="5669280" cy="365760"/>
          </a:xfrm>
          <a:prstGeom prst="rect">
            <a:avLst/>
          </a:prstGeom>
          <a:solidFill>
            <a:srgbClr val="0A1F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0540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31720" y="3072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2025-01-15 09:45:12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60520" y="3163824"/>
            <a:ext cx="1005840" cy="73152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160520" y="3163824"/>
            <a:ext cx="985723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30368" y="309067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364992"/>
            <a:ext cx="5669280" cy="7315"/>
          </a:xfrm>
          <a:prstGeom prst="rect">
            <a:avLst/>
          </a:prstGeom>
          <a:solidFill>
            <a:srgbClr val="0D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3456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SV03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331720" y="34747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2025-01-15 09:42:08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60520" y="3566160"/>
            <a:ext cx="1005840" cy="73152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160520" y="3566160"/>
            <a:ext cx="955548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30368" y="34930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767328"/>
            <a:ext cx="5669280" cy="7315"/>
          </a:xfrm>
          <a:prstGeom prst="rect">
            <a:avLst/>
          </a:prstGeom>
          <a:solidFill>
            <a:srgbClr val="0D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3858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SV01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331720" y="387705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2025-01-15 09:38:44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60520" y="3968496"/>
            <a:ext cx="1005840" cy="73152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160520" y="3968496"/>
            <a:ext cx="1005840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0368" y="38953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169664"/>
            <a:ext cx="5669280" cy="7315"/>
          </a:xfrm>
          <a:prstGeom prst="rect">
            <a:avLst/>
          </a:prstGeom>
          <a:solidFill>
            <a:srgbClr val="0D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2920" y="42611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SV09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331720" y="42793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2025-01-15 09:35:20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60520" y="4370832"/>
            <a:ext cx="1005840" cy="73152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160520" y="4370832"/>
            <a:ext cx="925373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30368" y="42976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572000"/>
            <a:ext cx="5669280" cy="7315"/>
          </a:xfrm>
          <a:prstGeom prst="rect">
            <a:avLst/>
          </a:prstGeom>
          <a:solidFill>
            <a:srgbClr val="0D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4663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SV05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331720" y="46817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2025-01-15 09:30:01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160520" y="4773168"/>
            <a:ext cx="1005840" cy="73152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160520" y="4773168"/>
            <a:ext cx="885139" cy="7315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230368" y="47000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88%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72200" y="2331720"/>
            <a:ext cx="2606040" cy="1234440"/>
          </a:xfrm>
          <a:prstGeom prst="rect">
            <a:avLst/>
          </a:prstGeom>
          <a:solidFill>
            <a:srgbClr val="111326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172200" y="2331720"/>
            <a:ext cx="2606040" cy="329184"/>
          </a:xfrm>
          <a:prstGeom prst="rect">
            <a:avLst/>
          </a:prstGeom>
          <a:solidFill>
            <a:srgbClr val="0D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263640" y="236829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HỆ THỐNG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63640" y="27249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Broker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589520" y="27249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263640" y="29352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589520" y="29352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TRIGGERED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63640" y="31455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589520" y="31455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Sẵn sàng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263640" y="33558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589520" y="33558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72200" y="3657600"/>
            <a:ext cx="2606040" cy="1371600"/>
          </a:xfrm>
          <a:prstGeom prst="rect">
            <a:avLst/>
          </a:prstGeom>
          <a:solidFill>
            <a:srgbClr val="111326"/>
          </a:solidFill>
          <a:ln w="635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172200" y="3657600"/>
            <a:ext cx="2606040" cy="310896"/>
          </a:xfrm>
          <a:prstGeom prst="rect">
            <a:avLst/>
          </a:prstGeom>
          <a:solidFill>
            <a:srgbClr val="0D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263640" y="3694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236208" y="402336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656832" y="4023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Nhận diện: SV07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36208" y="4270248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656832" y="42702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ESP32: PERSON_DETECTED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236208" y="4517136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09:42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656832" y="45171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Nhận diện: SV03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236208" y="476402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09:38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656832" y="47640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Nhận diện: SV01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28600" y="523951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Flask + Flask-SocketIO + paho-mqtt · MQTT push → SocketIO broadcast → browser tự refresh · Không cần F5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Phương Pháp Nhận Diện Khuôn Mặt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46641"/>
              </p:ext>
            </p:extLst>
          </p:nvPr>
        </p:nvGraphicFramePr>
        <p:xfrm>
          <a:off x="182880" y="960120"/>
          <a:ext cx="8778240" cy="3931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LBPH (dự án này)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face_recognition (dlib)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DeepFace (CNN)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FaceNet (Prod)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opencv-contrib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dlib / face_recognition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facenet-pytorch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đặt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— 1 lệnh pip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 — dlib phức tạp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— CUDA khuyến nghị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(HOG)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Tùy chọn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(prod)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90,62% </a:t>
                      </a: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(thực đo)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 (HOG)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~0.3s/frame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~0.5s/frame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~1.2s/frame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~0.1s (GPU)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Nhúng,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Desktop,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Nghiên cứu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SaaS,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cho đồ 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Phù hợp nhất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Cài đặt khó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Quá nặng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Cần GPU/cloud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9834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Accuracy đo trên cùng điều kiện: phòng học, ánh sáng ≥ 200 lux, CPU i5, khoảng cách 0.5–1.2m, không GPU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mở rộng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530352"/>
          </a:xfrm>
          <a:prstGeom prst="rect">
            <a:avLst/>
          </a:prstGeom>
          <a:solidFill>
            <a:srgbClr val="1A3A2A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mô phỏng ESP32→MQTT→AI→CSDL đầu-cuối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114800" cy="530352"/>
          </a:xfrm>
          <a:prstGeom prst="rect">
            <a:avLst/>
          </a:prstGeom>
          <a:solidFill>
            <a:srgbClr val="1A3A2A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Accuracy 90,62%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114800" cy="530352"/>
          </a:xfrm>
          <a:prstGeom prst="rect">
            <a:avLst/>
          </a:prstGeom>
          <a:solidFill>
            <a:srgbClr val="1A3A2A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lưu trữ lịch sử điểm danh + tên + timestamp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114800" cy="530352"/>
          </a:xfrm>
          <a:prstGeom prst="rect">
            <a:avLst/>
          </a:prstGeom>
          <a:solidFill>
            <a:srgbClr val="1A3A2A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✓  Bộ test đầy đủ: 160 samples, số liệu đo được</a:t>
            </a:r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MỞ RỘNG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114800" cy="530352"/>
          </a:xfrm>
          <a:prstGeom prst="rect">
            <a:avLst/>
          </a:prstGeom>
          <a:solidFill>
            <a:srgbClr val="0C2A3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Triển khai ESP32-CAM phần cứng thật (code sẵn sàng)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965960"/>
            <a:ext cx="4114800" cy="530352"/>
          </a:xfrm>
          <a:prstGeom prst="rect">
            <a:avLst/>
          </a:prstGeom>
          <a:solidFill>
            <a:srgbClr val="0C2A3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Raspberry Pi 4B — edge AI, không cần laptop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114800" cy="530352"/>
          </a:xfrm>
          <a:prstGeom prst="rect">
            <a:avLst/>
          </a:prstGeom>
          <a:solidFill>
            <a:srgbClr val="0C2A3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Tích hợp LMS trường UIT, gửi email thông báo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4114800" cy="530352"/>
          </a:xfrm>
          <a:prstGeom prst="rect">
            <a:avLst/>
          </a:prstGeom>
          <a:solidFill>
            <a:srgbClr val="0C2A3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Liveness detection — chống dùng ảnh 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4114800"/>
            <a:ext cx="6400800" cy="8229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Thank you for watching and listening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3" name="Acc"/>
          <p:cNvSpPr/>
          <p:nvPr/>
        </p:nvSpPr>
        <p:spPr>
          <a:xfrm>
            <a:off x="0" y="502920"/>
            <a:ext cx="9144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4" name="T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FFFF"/>
                </a:solidFill>
                <a:latin typeface="Calibri" pitchFamily="34" charset="0"/>
              </a:rPr>
              <a:t>Phân Công Công Việc</a:t>
            </a:r>
          </a:p>
        </p:txBody>
      </p:sp>
      <p:sp>
        <p:nvSpPr>
          <p:cNvPr id="5" name="S"/>
          <p:cNvSpPr/>
          <p:nvPr/>
        </p:nvSpPr>
        <p:spPr>
          <a:xfrm>
            <a:off x="182880" y="5029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1000" dirty="0">
                <a:solidFill>
                  <a:srgbClr val="94A3B8"/>
                </a:solidFill>
                <a:latin typeface="Calibri" pitchFamily="34" charset="0"/>
              </a:rPr>
              <a:t>Nhóm 3 thành viên  ·  Môn: Hệ Thống Nhúng  ·  GVHD: ThS. Phan Đình Duy</a:t>
            </a:r>
          </a:p>
        </p:txBody>
      </p:sp>
      <p:sp>
        <p:nvSpPr>
          <p:cNvPr id="10" name="Card0"/>
          <p:cNvSpPr/>
          <p:nvPr/>
        </p:nvSpPr>
        <p:spPr>
          <a:xfrm>
            <a:off x="182880" y="594360"/>
            <a:ext cx="2743200" cy="4275120"/>
          </a:xfrm>
          <a:prstGeom prst="roundRect">
            <a:avLst>
              <a:gd name="adj" fmla="val 16667"/>
            </a:avLst>
          </a:prstGeom>
          <a:solidFill>
            <a:srgbClr val="0C23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1" name="CardH0"/>
          <p:cNvSpPr/>
          <p:nvPr/>
        </p:nvSpPr>
        <p:spPr>
          <a:xfrm>
            <a:off x="182880" y="59436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2" name="Av0"/>
          <p:cNvSpPr/>
          <p:nvPr/>
        </p:nvSpPr>
        <p:spPr>
          <a:xfrm>
            <a:off x="1371600" y="640080"/>
            <a:ext cx="3657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13" name="AvT0"/>
          <p:cNvSpPr/>
          <p:nvPr/>
        </p:nvSpPr>
        <p:spPr>
          <a:xfrm>
            <a:off x="1371600" y="640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2000" b="1" dirty="0">
                <a:solidFill>
                  <a:srgbClr val="00B4D8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" name="Name0"/>
          <p:cNvSpPr/>
          <p:nvPr/>
        </p:nvSpPr>
        <p:spPr>
          <a:xfrm>
            <a:off x="228600" y="1142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300" b="1" dirty="0">
                <a:solidFill>
                  <a:srgbClr val="FFFFFF"/>
                </a:solidFill>
                <a:latin typeface="Calibri" pitchFamily="34" charset="0"/>
              </a:rPr>
              <a:t>Bùi Tấn Thiện Tâm</a:t>
            </a:r>
          </a:p>
        </p:txBody>
      </p:sp>
      <p:sp>
        <p:nvSpPr>
          <p:cNvPr id="15" name="Role0"/>
          <p:cNvSpPr/>
          <p:nvPr/>
        </p:nvSpPr>
        <p:spPr>
          <a:xfrm>
            <a:off x="365760" y="146232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16" name="RoleT0"/>
          <p:cNvSpPr/>
          <p:nvPr/>
        </p:nvSpPr>
        <p:spPr>
          <a:xfrm>
            <a:off x="365760" y="1462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000" b="1" dirty="0">
                <a:solidFill>
                  <a:srgbClr val="00B4D8"/>
                </a:solidFill>
                <a:latin typeface="Calibri" pitchFamily="34" charset="0"/>
              </a:rPr>
              <a:t>Team Lead / AI Engineer</a:t>
            </a:r>
          </a:p>
        </p:txBody>
      </p:sp>
      <p:sp>
        <p:nvSpPr>
          <p:cNvPr id="17" name="Task00"/>
          <p:cNvSpPr/>
          <p:nvPr/>
        </p:nvSpPr>
        <p:spPr>
          <a:xfrm>
            <a:off x="27432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0B4D8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Thiết kế kiến trúc tổng thể hệ thống</a:t>
            </a:r>
          </a:p>
        </p:txBody>
      </p:sp>
      <p:sp>
        <p:nvSpPr>
          <p:cNvPr id="18" name="Task01"/>
          <p:cNvSpPr/>
          <p:nvPr/>
        </p:nvSpPr>
        <p:spPr>
          <a:xfrm>
            <a:off x="27432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0B4D8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Viết ai_subscriber.py — LBPH pipeline</a:t>
            </a:r>
          </a:p>
        </p:txBody>
      </p:sp>
      <p:sp>
        <p:nvSpPr>
          <p:cNvPr id="19" name="Task02"/>
          <p:cNvSpPr/>
          <p:nvPr/>
        </p:nvSpPr>
        <p:spPr>
          <a:xfrm>
            <a:off x="27432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0B4D8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Huấn luyện mô hình LBPH (build_encodings)</a:t>
            </a:r>
          </a:p>
        </p:txBody>
      </p:sp>
      <p:sp>
        <p:nvSpPr>
          <p:cNvPr id="20" name="Task03"/>
          <p:cNvSpPr/>
          <p:nvPr/>
        </p:nvSpPr>
        <p:spPr>
          <a:xfrm>
            <a:off x="27432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0B4D8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Tích hợp MQTT broker HiveMQ Cloud</a:t>
            </a:r>
          </a:p>
        </p:txBody>
      </p:sp>
      <p:sp>
        <p:nvSpPr>
          <p:cNvPr id="21" name="Task04"/>
          <p:cNvSpPr/>
          <p:nvPr/>
        </p:nvSpPr>
        <p:spPr>
          <a:xfrm>
            <a:off x="27432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0B4D8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Thiết kế relay control (OPEN/CLOSE DOOR)</a:t>
            </a:r>
          </a:p>
        </p:txBody>
      </p:sp>
      <p:sp>
        <p:nvSpPr>
          <p:cNvPr id="22" name="Task05"/>
          <p:cNvSpPr/>
          <p:nvPr/>
        </p:nvSpPr>
        <p:spPr>
          <a:xfrm>
            <a:off x="27432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Viết test cases — đo accuracy 90,62%</a:t>
            </a:r>
          </a:p>
        </p:txBody>
      </p:sp>
      <p:sp>
        <p:nvSpPr>
          <p:cNvPr id="6" name="PctBg0"/>
          <p:cNvSpPr/>
          <p:nvPr/>
        </p:nvSpPr>
        <p:spPr>
          <a:xfrm>
            <a:off x="182880" y="4686720"/>
            <a:ext cx="274320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7" name="Pct0"/>
          <p:cNvSpPr/>
          <p:nvPr/>
        </p:nvSpPr>
        <p:spPr>
          <a:xfrm>
            <a:off x="182880" y="4686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</a:rPr>
              <a:t>Đóng góp: </a:t>
            </a:r>
            <a:r>
              <a:rPr lang="vi-VN" sz="1400" b="1" dirty="0">
                <a:solidFill>
                  <a:srgbClr val="FFFFFF"/>
                </a:solidFill>
                <a:latin typeface="Calibri" pitchFamily="34" charset="0"/>
              </a:rPr>
              <a:t>40%</a:t>
            </a:r>
          </a:p>
        </p:txBody>
      </p:sp>
      <p:sp>
        <p:nvSpPr>
          <p:cNvPr id="30" name="Card1"/>
          <p:cNvSpPr/>
          <p:nvPr/>
        </p:nvSpPr>
        <p:spPr>
          <a:xfrm>
            <a:off x="3063240" y="594360"/>
            <a:ext cx="2743200" cy="4275120"/>
          </a:xfrm>
          <a:prstGeom prst="roundRect">
            <a:avLst>
              <a:gd name="adj" fmla="val 16667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1" name="CardH1"/>
          <p:cNvSpPr/>
          <p:nvPr/>
        </p:nvSpPr>
        <p:spPr>
          <a:xfrm>
            <a:off x="3063240" y="59436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2" name="Av1"/>
          <p:cNvSpPr/>
          <p:nvPr/>
        </p:nvSpPr>
        <p:spPr>
          <a:xfrm>
            <a:off x="4251960" y="640080"/>
            <a:ext cx="3657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3" name="AvT1"/>
          <p:cNvSpPr/>
          <p:nvPr/>
        </p:nvSpPr>
        <p:spPr>
          <a:xfrm>
            <a:off x="4251960" y="640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2000" b="1" dirty="0">
                <a:solidFill>
                  <a:srgbClr val="7C3AED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4" name="Name1"/>
          <p:cNvSpPr/>
          <p:nvPr/>
        </p:nvSpPr>
        <p:spPr>
          <a:xfrm>
            <a:off x="3108960" y="1142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300" b="1" dirty="0">
                <a:solidFill>
                  <a:srgbClr val="FFFFFF"/>
                </a:solidFill>
                <a:latin typeface="Calibri" pitchFamily="34" charset="0"/>
              </a:rPr>
              <a:t>Lê Ngọc Thái</a:t>
            </a:r>
          </a:p>
        </p:txBody>
      </p:sp>
      <p:sp>
        <p:nvSpPr>
          <p:cNvPr id="35" name="Role1"/>
          <p:cNvSpPr/>
          <p:nvPr/>
        </p:nvSpPr>
        <p:spPr>
          <a:xfrm>
            <a:off x="3246120" y="146232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36" name="RoleT1"/>
          <p:cNvSpPr/>
          <p:nvPr/>
        </p:nvSpPr>
        <p:spPr>
          <a:xfrm>
            <a:off x="3246120" y="1462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000" b="1" dirty="0">
                <a:solidFill>
                  <a:srgbClr val="7C3AED"/>
                </a:solidFill>
                <a:latin typeface="Calibri" pitchFamily="34" charset="0"/>
              </a:rPr>
              <a:t>Embedded / Wokwi Engineer</a:t>
            </a:r>
          </a:p>
        </p:txBody>
      </p:sp>
      <p:sp>
        <p:nvSpPr>
          <p:cNvPr id="37" name="Task10"/>
          <p:cNvSpPr/>
          <p:nvPr/>
        </p:nvSpPr>
        <p:spPr>
          <a:xfrm>
            <a:off x="31546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7C3AED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Lập trình firmware C++ Arduino cho ESP32</a:t>
            </a:r>
          </a:p>
        </p:txBody>
      </p:sp>
      <p:sp>
        <p:nvSpPr>
          <p:cNvPr id="38" name="Task11"/>
          <p:cNvSpPr/>
          <p:nvPr/>
        </p:nvSpPr>
        <p:spPr>
          <a:xfrm>
            <a:off x="315468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7C3AED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Mô phỏng ESP32-CAM trên Wokwi Simulator</a:t>
            </a:r>
          </a:p>
        </p:txBody>
      </p:sp>
      <p:sp>
        <p:nvSpPr>
          <p:cNvPr id="39" name="Task12"/>
          <p:cNvSpPr/>
          <p:nvPr/>
        </p:nvSpPr>
        <p:spPr>
          <a:xfrm>
            <a:off x="315468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7C3AED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Cấu hình PIR sensor ảo, OV2640, OLED</a:t>
            </a:r>
          </a:p>
        </p:txBody>
      </p:sp>
      <p:sp>
        <p:nvSpPr>
          <p:cNvPr id="40" name="Task13"/>
          <p:cNvSpPr/>
          <p:nvPr/>
        </p:nvSpPr>
        <p:spPr>
          <a:xfrm>
            <a:off x="31546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7C3AED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Thiết kế MQTT topic pub/sub (3 topics)</a:t>
            </a:r>
          </a:p>
        </p:txBody>
      </p:sp>
      <p:sp>
        <p:nvSpPr>
          <p:cNvPr id="41" name="Task14"/>
          <p:cNvSpPr/>
          <p:nvPr/>
        </p:nvSpPr>
        <p:spPr>
          <a:xfrm>
            <a:off x="315468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7C3AED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Viết convert_att.py — chuyển đổi dataset</a:t>
            </a:r>
          </a:p>
        </p:txBody>
      </p:sp>
      <p:sp>
        <p:nvSpPr>
          <p:cNvPr id="42" name="Task15"/>
          <p:cNvSpPr/>
          <p:nvPr/>
        </p:nvSpPr>
        <p:spPr>
          <a:xfrm>
            <a:off x="315468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7C3AED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Kiểm tra tương thích firmware ↔ Python</a:t>
            </a:r>
          </a:p>
        </p:txBody>
      </p:sp>
      <p:sp>
        <p:nvSpPr>
          <p:cNvPr id="8" name="PctBg1"/>
          <p:cNvSpPr/>
          <p:nvPr/>
        </p:nvSpPr>
        <p:spPr>
          <a:xfrm>
            <a:off x="3063240" y="4686720"/>
            <a:ext cx="27432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9" name="Pct1"/>
          <p:cNvSpPr/>
          <p:nvPr/>
        </p:nvSpPr>
        <p:spPr>
          <a:xfrm>
            <a:off x="3063240" y="4686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</a:rPr>
              <a:t>Đóng góp</a:t>
            </a:r>
            <a:r>
              <a:rPr lang="vi-VN" sz="1100" b="1">
                <a:solidFill>
                  <a:srgbClr val="FFFFFF"/>
                </a:solidFill>
                <a:latin typeface="Calibri" pitchFamily="34" charset="0"/>
              </a:rPr>
              <a:t>: </a:t>
            </a:r>
            <a:r>
              <a:rPr lang="vi-VN" sz="1400" b="1">
                <a:solidFill>
                  <a:srgbClr val="FFFFFF"/>
                </a:solidFill>
                <a:latin typeface="Calibri" pitchFamily="34" charset="0"/>
              </a:rPr>
              <a:t>3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0</a:t>
            </a:r>
            <a:r>
              <a:rPr lang="vi-VN" sz="1400" b="1">
                <a:solidFill>
                  <a:srgbClr val="FFFFFF"/>
                </a:solidFill>
                <a:latin typeface="Calibri" pitchFamily="34" charset="0"/>
              </a:rPr>
              <a:t>%</a:t>
            </a:r>
            <a:endParaRPr lang="vi-VN" sz="1400" b="1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50" name="Card2"/>
          <p:cNvSpPr/>
          <p:nvPr/>
        </p:nvSpPr>
        <p:spPr>
          <a:xfrm>
            <a:off x="5943600" y="594360"/>
            <a:ext cx="2743200" cy="4275120"/>
          </a:xfrm>
          <a:prstGeom prst="roundRect">
            <a:avLst>
              <a:gd name="adj" fmla="val 16667"/>
            </a:avLst>
          </a:prstGeom>
          <a:solidFill>
            <a:srgbClr val="042E1E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51" name="CardH2"/>
          <p:cNvSpPr/>
          <p:nvPr/>
        </p:nvSpPr>
        <p:spPr>
          <a:xfrm>
            <a:off x="5943600" y="594360"/>
            <a:ext cx="2743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52" name="Av2"/>
          <p:cNvSpPr/>
          <p:nvPr/>
        </p:nvSpPr>
        <p:spPr>
          <a:xfrm>
            <a:off x="7132320" y="640080"/>
            <a:ext cx="3657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53" name="AvT2"/>
          <p:cNvSpPr/>
          <p:nvPr/>
        </p:nvSpPr>
        <p:spPr>
          <a:xfrm>
            <a:off x="7132320" y="640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2000" b="1" dirty="0">
                <a:solidFill>
                  <a:srgbClr val="059669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Name2"/>
          <p:cNvSpPr/>
          <p:nvPr/>
        </p:nvSpPr>
        <p:spPr>
          <a:xfrm>
            <a:off x="5989320" y="1142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300" b="1" dirty="0">
                <a:solidFill>
                  <a:srgbClr val="FFFFFF"/>
                </a:solidFill>
                <a:latin typeface="Calibri" pitchFamily="34" charset="0"/>
              </a:rPr>
              <a:t>Kiêm Hoàng Tuấn</a:t>
            </a:r>
          </a:p>
        </p:txBody>
      </p:sp>
      <p:sp>
        <p:nvSpPr>
          <p:cNvPr id="55" name="Role2"/>
          <p:cNvSpPr/>
          <p:nvPr/>
        </p:nvSpPr>
        <p:spPr>
          <a:xfrm>
            <a:off x="6126480" y="146232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vi-VN" dirty="0"/>
          </a:p>
        </p:txBody>
      </p:sp>
      <p:sp>
        <p:nvSpPr>
          <p:cNvPr id="56" name="RoleT2"/>
          <p:cNvSpPr/>
          <p:nvPr/>
        </p:nvSpPr>
        <p:spPr>
          <a:xfrm>
            <a:off x="6126480" y="1462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000" b="1" dirty="0">
                <a:solidFill>
                  <a:srgbClr val="059669"/>
                </a:solidFill>
                <a:latin typeface="Calibri" pitchFamily="34" charset="0"/>
              </a:rPr>
              <a:t>Backend / Database Engineer</a:t>
            </a:r>
          </a:p>
        </p:txBody>
      </p:sp>
      <p:sp>
        <p:nvSpPr>
          <p:cNvPr id="57" name="Task20"/>
          <p:cNvSpPr/>
          <p:nvPr/>
        </p:nvSpPr>
        <p:spPr>
          <a:xfrm>
            <a:off x="603504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59669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Thiết kế &amp; cài đặt database SQLite</a:t>
            </a:r>
          </a:p>
        </p:txBody>
      </p:sp>
      <p:sp>
        <p:nvSpPr>
          <p:cNvPr id="58" name="Task21"/>
          <p:cNvSpPr/>
          <p:nvPr/>
        </p:nvSpPr>
        <p:spPr>
          <a:xfrm>
            <a:off x="603504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59669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Viết dashboard.py — xem lịch sử điểm danh</a:t>
            </a:r>
          </a:p>
        </p:txBody>
      </p:sp>
      <p:sp>
        <p:nvSpPr>
          <p:cNvPr id="59" name="Task22"/>
          <p:cNvSpPr/>
          <p:nvPr/>
        </p:nvSpPr>
        <p:spPr>
          <a:xfrm>
            <a:off x="603504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59669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Chuẩn bị AT&amp;T Face dataset (40 người)</a:t>
            </a:r>
          </a:p>
        </p:txBody>
      </p:sp>
      <p:sp>
        <p:nvSpPr>
          <p:cNvPr id="60" name="Task23"/>
          <p:cNvSpPr/>
          <p:nvPr/>
        </p:nvSpPr>
        <p:spPr>
          <a:xfrm>
            <a:off x="603504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59669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Viết tài liệu báo cáo &amp; slide thuyết trình</a:t>
            </a:r>
          </a:p>
        </p:txBody>
      </p:sp>
      <p:sp>
        <p:nvSpPr>
          <p:cNvPr id="61" name="Task24"/>
          <p:cNvSpPr/>
          <p:nvPr/>
        </p:nvSpPr>
        <p:spPr>
          <a:xfrm>
            <a:off x="603504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• Thực hiện 160 test cases, ghi kết quả thực nghiệm</a:t>
            </a:r>
          </a:p>
        </p:txBody>
      </p:sp>
      <p:sp>
        <p:nvSpPr>
          <p:cNvPr id="62" name="Task25"/>
          <p:cNvSpPr/>
          <p:nvPr/>
        </p:nvSpPr>
        <p:spPr>
          <a:xfrm>
            <a:off x="603504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vi-VN" sz="950" b="1" dirty="0">
                <a:solidFill>
                  <a:srgbClr val="059669"/>
                </a:solidFill>
                <a:latin typeface="Calibri" pitchFamily="34" charset="0"/>
              </a:rPr>
              <a:t>• </a:t>
            </a:r>
            <a:r>
              <a:rPr lang="vi-VN" sz="950" dirty="0">
                <a:solidFill>
                  <a:srgbClr val="CBD5E1"/>
                </a:solidFill>
                <a:latin typeface="Calibri" pitchFamily="34" charset="0"/>
              </a:rPr>
              <a:t>Chuẩn bị demo &amp; câu hỏi phản biện</a:t>
            </a:r>
          </a:p>
        </p:txBody>
      </p:sp>
      <p:sp>
        <p:nvSpPr>
          <p:cNvPr id="23" name="PctBg2"/>
          <p:cNvSpPr/>
          <p:nvPr/>
        </p:nvSpPr>
        <p:spPr>
          <a:xfrm>
            <a:off x="5943600" y="4686720"/>
            <a:ext cx="274320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24" name="Pct2"/>
          <p:cNvSpPr/>
          <p:nvPr/>
        </p:nvSpPr>
        <p:spPr>
          <a:xfrm>
            <a:off x="5943600" y="4686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</a:rPr>
              <a:t>Đóng góp</a:t>
            </a:r>
            <a:r>
              <a:rPr lang="vi-VN" sz="1100" b="1">
                <a:solidFill>
                  <a:srgbClr val="FFFFFF"/>
                </a:solidFill>
                <a:latin typeface="Calibri" pitchFamily="34" charset="0"/>
              </a:rPr>
              <a:t>: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</a:rPr>
              <a:t>30</a:t>
            </a:r>
            <a:r>
              <a:rPr lang="vi-VN" sz="1400" b="1">
                <a:solidFill>
                  <a:srgbClr val="FFFFFF"/>
                </a:solidFill>
                <a:latin typeface="Calibri" pitchFamily="34" charset="0"/>
              </a:rPr>
              <a:t>%</a:t>
            </a:r>
            <a:endParaRPr lang="vi-VN" sz="1400" b="1" dirty="0">
              <a:solidFill>
                <a:srgbClr val="FFFFFF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3407</Words>
  <Application>Microsoft Office PowerPoint</Application>
  <PresentationFormat>On-screen Show (16:9)</PresentationFormat>
  <Paragraphs>711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Điểm Danh Nhận Diện Khuôn Mặt</dc:title>
  <dc:subject>PptxGenJS Presentation</dc:subject>
  <dc:creator>PptxGenJS</dc:creator>
  <cp:lastModifiedBy>N</cp:lastModifiedBy>
  <cp:revision>17</cp:revision>
  <dcterms:created xsi:type="dcterms:W3CDTF">2026-05-14T09:15:45Z</dcterms:created>
  <dcterms:modified xsi:type="dcterms:W3CDTF">2026-05-18T09:49:12Z</dcterms:modified>
</cp:coreProperties>
</file>